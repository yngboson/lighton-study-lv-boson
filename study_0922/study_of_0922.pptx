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38AC66-DFD7-D74B-A261-04A31C3C3E37}" v="2" dt="2026-09-16T13:08:56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2"/>
    <p:restoredTop sz="94613"/>
  </p:normalViewPr>
  <p:slideViewPr>
    <p:cSldViewPr snapToGrid="0">
      <p:cViewPr varScale="1">
        <p:scale>
          <a:sx n="93" d="100"/>
          <a:sy n="93" d="100"/>
        </p:scale>
        <p:origin x="22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02C3D-9A5C-594A-8D42-1D02D78E7BA9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78BA5-E153-774A-8257-E88E1738900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426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0F578-683F-81A7-C52A-6FCA9031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ED794-F2B4-FC46-A067-22ADFB682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82D68-B421-8D10-A6C3-08459B9C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C8ED4-676E-DBAB-CF04-0961C173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7FD51B-4887-DACD-62C0-0C76C73C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5008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93DB0-AC5C-E95B-0A28-ED5351EA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8D608-9CCE-445B-94E4-7698D2D89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71AFC4-0090-4553-A911-1569CB40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69BB44-1BFB-2A5B-C967-4C300D5D1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019D2E-D60F-CA64-31DE-A4613594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626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7B546-D751-A4D5-31F0-534E81F81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EA98D0-F3AE-0D76-ADBE-D32D98CC8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3B888E-1BEF-2D98-F382-B4DFEA755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97EAAE-D4C5-9F56-0E74-349FF414C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C99F15-B3CD-4D9F-6740-06487CCE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358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CD294-E3B4-F423-2D45-DAFC8F72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E288B4-C460-3FBC-E94D-6049D23E2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63936C-B77B-DFCF-615B-53A009A10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8E77E7-24A3-4A72-E3B3-76937297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476687-61AE-3C72-5140-F58BAB0A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57A9E1-FC9E-6E46-006A-FEB66A2C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077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AAE23-AF62-82B0-1417-C9484AC00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0DF7F-F1BB-0C0C-D3D1-13501A695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9AC447-1119-F3E8-3B4A-2791215F5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85DBC2-2BB7-0DA2-067B-7D0D19E9E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6C8865-4BE6-F26C-04D9-70FF16F2A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9E9ADA-A81C-56D0-D50C-332DB891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284AA5-3DC4-6683-13FC-8F52EA1F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AA854D-2B3D-F643-A492-1A004D05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1795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F5274-2FDC-ADCC-CA68-C8DC4B49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311268-C9DA-78B4-9CFC-741529F1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9C9292-C9F7-7C94-CE80-C0A0ACD2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3334DF-AAE1-3BF4-F982-5A81D0EA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033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76EBCB-D626-2F03-58C9-BA4BCDD7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42021F-3010-E1D2-E7E0-FCFC0253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6AB2B-9055-7EB6-EBEA-B654F989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831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9E94A-8B47-4E23-6A7F-1452E0A8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D38E6-FBDA-A7C2-A1F7-91BBC5648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BF1E1C-5764-3F41-8CB8-681086D16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B1E860-A6F4-384E-1EEC-188EC128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D22DEC-3850-B2D9-55B0-9578D74F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90D1FC-E839-E8B0-F91A-D5508F7E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217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22811-223E-60AB-775F-1186B597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D24B8A-0D00-65FC-B1B5-78AAFAB05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3AC118-6AE8-F24F-26C3-1D90CB4D8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50D8C8-1036-2191-57F9-E98ED01C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5463D6-19C9-2DA9-1861-A70C6CCA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43F56B-2726-2F0A-EE92-F71C4DDC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616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417C2-31B2-73FF-35FC-D9A6A77D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59FB72-E774-F67A-8E6B-7E6FCE849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C298C0-CD3A-3C17-0040-1A04B6C1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4E41A6-5E81-3C6A-137B-110E941C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189E42-9B89-8758-99AF-DF47431C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334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44B9F7-9521-0433-1653-05220F9D9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13118F-8BE3-4333-9546-7B911F1FE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E1430C-C8FD-6002-FEE5-91ADAECFD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6FA21E-8DE9-43D3-A0AD-EB104159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D98AC5-CCFE-E9BE-AB1C-C9896FBA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07650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FBFF90-A825-76CD-CEEB-9CED23164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EDB7A5-F03C-E8FB-1ADD-5971FA8CF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B1C00A-8A40-A79F-F505-34424A2E7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94E100-9C04-53B5-6E4D-295AC8B4E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528F77-0AF0-9792-3DA7-D57823965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5CFC7C-9595-6920-B0A0-A7405408FD52}"/>
              </a:ext>
            </a:extLst>
          </p:cNvPr>
          <p:cNvSpPr/>
          <p:nvPr userDrawn="1"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FA10A-9FE7-1EFE-2859-FF90C51E0BBB}"/>
              </a:ext>
            </a:extLst>
          </p:cNvPr>
          <p:cNvSpPr txBox="1"/>
          <p:nvPr userDrawn="1"/>
        </p:nvSpPr>
        <p:spPr>
          <a:xfrm>
            <a:off x="0" y="109685"/>
            <a:ext cx="2495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</a:rPr>
              <a:t>26.09.17 </a:t>
            </a:r>
            <a:r>
              <a:rPr kumimoji="1" lang="ko-KR" altLang="en-US" sz="2400" dirty="0">
                <a:solidFill>
                  <a:schemeClr val="bg1"/>
                </a:solidFill>
              </a:rPr>
              <a:t>스터디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43EC9-7886-EA43-D0DE-F5D264FB1368}"/>
              </a:ext>
            </a:extLst>
          </p:cNvPr>
          <p:cNvSpPr txBox="1"/>
          <p:nvPr userDrawn="1"/>
        </p:nvSpPr>
        <p:spPr>
          <a:xfrm>
            <a:off x="3808207" y="109685"/>
            <a:ext cx="4575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solidFill>
                  <a:schemeClr val="bg1"/>
                </a:solidFill>
              </a:rPr>
              <a:t>AIR, </a:t>
            </a:r>
            <a:r>
              <a:rPr kumimoji="1" lang="ko-KR" altLang="en-US" sz="2400" dirty="0" err="1">
                <a:solidFill>
                  <a:schemeClr val="bg1"/>
                </a:solidFill>
              </a:rPr>
              <a:t>프리차지</a:t>
            </a:r>
            <a:r>
              <a:rPr kumimoji="1" lang="en-US" altLang="ko-KR" sz="2400" dirty="0">
                <a:solidFill>
                  <a:schemeClr val="bg1"/>
                </a:solidFill>
              </a:rPr>
              <a:t>,</a:t>
            </a:r>
            <a:r>
              <a:rPr kumimoji="1" lang="ko-KR" altLang="en-US" sz="2400" dirty="0">
                <a:solidFill>
                  <a:schemeClr val="bg1"/>
                </a:solidFill>
              </a:rPr>
              <a:t> </a:t>
            </a:r>
            <a:r>
              <a:rPr kumimoji="1" lang="ko-KR" altLang="en-US" sz="2400" dirty="0" err="1">
                <a:solidFill>
                  <a:schemeClr val="bg1"/>
                </a:solidFill>
              </a:rPr>
              <a:t>디스차지</a:t>
            </a:r>
            <a:r>
              <a:rPr kumimoji="1" lang="en-US" altLang="ko-KR" sz="2400" dirty="0">
                <a:solidFill>
                  <a:schemeClr val="bg1"/>
                </a:solidFill>
              </a:rPr>
              <a:t>,</a:t>
            </a:r>
            <a:r>
              <a:rPr kumimoji="1" lang="ko-KR" altLang="en-US" sz="2400" dirty="0">
                <a:solidFill>
                  <a:schemeClr val="bg1"/>
                </a:solidFill>
              </a:rPr>
              <a:t> </a:t>
            </a:r>
            <a:r>
              <a:rPr kumimoji="1" lang="en-US" altLang="ko-KR" sz="2400" dirty="0">
                <a:solidFill>
                  <a:schemeClr val="bg1"/>
                </a:solidFill>
              </a:rPr>
              <a:t>TSMP</a:t>
            </a:r>
            <a:endParaRPr kumimoji="1"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8BEBC3-198F-2C72-2B45-737826FBF4B2}"/>
              </a:ext>
            </a:extLst>
          </p:cNvPr>
          <p:cNvSpPr txBox="1"/>
          <p:nvPr userDrawn="1"/>
        </p:nvSpPr>
        <p:spPr>
          <a:xfrm>
            <a:off x="9696226" y="109685"/>
            <a:ext cx="2495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2400" dirty="0">
                <a:solidFill>
                  <a:schemeClr val="bg1"/>
                </a:solidFill>
              </a:rPr>
              <a:t>류보선</a:t>
            </a:r>
          </a:p>
        </p:txBody>
      </p:sp>
    </p:spTree>
    <p:extLst>
      <p:ext uri="{BB962C8B-B14F-4D97-AF65-F5344CB8AC3E}">
        <p14:creationId xmlns:p14="http://schemas.microsoft.com/office/powerpoint/2010/main" val="389621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1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9.22 스터디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SDC 회로 – IMD, 릴레이 자기유지, MOSFET, RESET, BSPD 10초 규정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SDC 관련 규정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828800"/>
            <a:ext cx="10515600" cy="4480560"/>
          </a:xfrm>
        </p:spPr>
        <p:txBody>
          <a:bodyPr/>
          <a:lstStyle/>
          <a:p>
            <a:r>
              <a:rPr sz="2200"/>
              <a:t>드라이버는 BMS, IMD, BSPD, BOTS가 구동시스템을 비활성화시킨 상황을 제외하고는 </a:t>
            </a:r>
            <a:r>
              <a:rPr sz="2200" u="sng">
                <a:uFill>
                  <a:solidFill>
                    <a:srgbClr val="FF0000"/>
                  </a:solidFill>
                </a:uFill>
              </a:rPr>
              <a:t>외부 도움 없이</a:t>
            </a:r>
            <a:r>
              <a:rPr sz="2200"/>
              <a:t> 운전석 내에서 구동시스템을 활성화할 수 있어야 함</a:t>
            </a:r>
          </a:p>
          <a:p>
            <a:r>
              <a:rPr sz="800"/>
              <a:t/>
            </a:r>
          </a:p>
          <a:p>
            <a:r>
              <a:rPr sz="2200"/>
              <a:t>HV 릴레이(AIR)를 작동시키는 전류와 초기 충전 회로를 작동시키는 전류는 </a:t>
            </a:r>
            <a:r>
              <a:rPr sz="2200" u="sng">
                <a:uFill>
                  <a:solidFill>
                    <a:srgbClr val="FF0000"/>
                  </a:solidFill>
                </a:uFill>
              </a:rPr>
              <a:t>차단 회로를 통해 직접</a:t>
            </a:r>
            <a:r>
              <a:rPr sz="2200"/>
              <a:t> 이동함</a:t>
            </a:r>
          </a:p>
          <a:p>
            <a:r>
              <a:rPr sz="800"/>
              <a:t/>
            </a:r>
          </a:p>
          <a:p>
            <a:r>
              <a:rPr sz="2200"/>
              <a:t>차단 회로 구성 : 주 비상 정지 스위치 2개 이상, 보조 비상 정지 스위치 3개, BOTS, BMS, IMD, BSPD, 필요한 모든 인터락(interlock)</a:t>
            </a:r>
          </a:p>
          <a:p>
            <a:r>
              <a:rPr sz="800"/>
              <a:t/>
            </a:r>
          </a:p>
          <a:p>
            <a:r>
              <a:rPr sz="2200"/>
              <a:t>접지된 저전압 시스템(GLVS)의 전원이 차단되면 구동시스템은 </a:t>
            </a:r>
            <a:r>
              <a:rPr sz="2200" u="sng">
                <a:uFill>
                  <a:solidFill>
                    <a:srgbClr val="FF0000"/>
                  </a:solidFill>
                </a:uFill>
              </a:rPr>
              <a:t>즉시 비활성화</a:t>
            </a:r>
            <a:r>
              <a:rPr sz="2200"/>
              <a:t>되어야 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SDC 관련 규정 – 차단 회로 개방 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차단 회로 개방 · 중단 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41248" y="2478024"/>
            <a:ext cx="5157216" cy="370332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sz="1800"/>
              <a:t>즉시 모든 HV 릴레이를 개방하여 </a:t>
            </a:r>
            <a:r>
              <a:rPr sz="1800" u="sng">
                <a:uFill>
                  <a:solidFill>
                    <a:srgbClr val="FF0000"/>
                  </a:solidFill>
                </a:uFill>
              </a:rPr>
              <a:t>구동시스템을 비활성화</a:t>
            </a:r>
          </a:p>
          <a:p>
            <a:pPr marL="0" indent="0">
              <a:buNone/>
            </a:pPr>
            <a:r>
              <a:rPr sz="800"/>
              <a:t/>
            </a:r>
          </a:p>
          <a:p>
            <a:pPr marL="457200" indent="-457200">
              <a:buFont typeface="+mj-lt"/>
              <a:buAutoNum type="arabicPeriod"/>
            </a:pPr>
            <a:r>
              <a:rPr sz="1800"/>
              <a:t>초기 충전 릴레이를 포함한 AIR를 모두 개방하여 즉시 모든 축전지 전류 흐름이 중단</a:t>
            </a:r>
          </a:p>
          <a:p>
            <a:pPr marL="0" indent="0">
              <a:buNone/>
            </a:pPr>
            <a:r>
              <a:rPr sz="800"/>
              <a:t/>
            </a:r>
          </a:p>
          <a:p>
            <a:pPr marL="457200" indent="-457200">
              <a:buFont typeface="+mj-lt"/>
              <a:buAutoNum type="arabicPeriod"/>
            </a:pPr>
            <a:r>
              <a:rPr sz="1800"/>
              <a:t>차단 회로 개방 후 </a:t>
            </a:r>
            <a:r>
              <a:rPr sz="1800" u="sng">
                <a:uFill>
                  <a:solidFill>
                    <a:srgbClr val="FF0000"/>
                  </a:solidFill>
                </a:uFill>
              </a:rPr>
              <a:t>5초 이내</a:t>
            </a:r>
            <a:r>
              <a:rPr sz="1800"/>
              <a:t>에 구동시스템 전압이 저전압 기준 미만으로 낮아져야 함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설계 원칙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478024"/>
            <a:ext cx="5184648" cy="3703320"/>
          </a:xfrm>
        </p:spPr>
        <p:txBody>
          <a:bodyPr/>
          <a:lstStyle/>
          <a:p>
            <a:r>
              <a:rPr sz="1800"/>
              <a:t>차단 회로에 포함된 모든 회로는 </a:t>
            </a:r>
            <a:r>
              <a:rPr sz="1800" u="sng">
                <a:uFill>
                  <a:solidFill>
                    <a:srgbClr val="FF0000"/>
                  </a:solidFill>
                </a:uFill>
              </a:rPr>
              <a:t>전원이 차단된 상태에서 개방</a:t>
            </a:r>
            <a:r>
              <a:rPr sz="1800"/>
              <a:t>되도록 설계</a:t>
            </a:r>
          </a:p>
          <a:p>
            <a:r>
              <a:rPr sz="800"/>
              <a:t/>
            </a:r>
          </a:p>
          <a:p>
            <a:r>
              <a:rPr sz="1800"/>
              <a:t>→ 각 회로가 HV 릴레이(AIR)를 제어하는 전류를 제거하도록 함</a:t>
            </a:r>
          </a:p>
          <a:p>
            <a:r>
              <a:rPr sz="800"/>
              <a:t/>
            </a:r>
          </a:p>
          <a:p>
            <a:r>
              <a:rPr sz="1800"/>
              <a:t>차단 회로의 모든 기능이 올바르게 작동함을 입증할 수 있어야 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SDC 규정 – BMS · IMD · BSPD 개방 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828800"/>
            <a:ext cx="10515600" cy="44805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sz="2200"/>
              <a:t>구동시스템은 수동으로 재설정(RESET) 하기 전까지 </a:t>
            </a:r>
            <a:r>
              <a:rPr sz="2200" u="sng">
                <a:uFill>
                  <a:solidFill>
                    <a:srgbClr val="FF0000"/>
                  </a:solidFill>
                </a:uFill>
              </a:rPr>
              <a:t>비활성화 상태를 유지</a:t>
            </a:r>
          </a:p>
          <a:p>
            <a:pPr marL="0" indent="0">
              <a:buNone/>
            </a:pPr>
            <a:r>
              <a:rPr sz="800"/>
              <a:t/>
            </a:r>
          </a:p>
          <a:p>
            <a:pPr marL="457200" indent="-457200">
              <a:buFont typeface="+mj-lt"/>
              <a:buAutoNum type="arabicPeriod"/>
            </a:pPr>
            <a:r>
              <a:rPr sz="2200"/>
              <a:t>드라이버는 차량 내부에서 구동시스템을 재활성화할 수 없어야 함</a:t>
            </a:r>
          </a:p>
          <a:p>
            <a:pPr marL="0" indent="0">
              <a:buNone/>
            </a:pPr>
            <a:r>
              <a:rPr sz="800"/>
              <a:t/>
            </a:r>
          </a:p>
          <a:p>
            <a:pPr marL="457200" indent="-457200">
              <a:buFont typeface="+mj-lt"/>
              <a:buAutoNum type="arabicPeriod"/>
            </a:pPr>
            <a:r>
              <a:rPr sz="2200"/>
              <a:t>주 / 보조 비상정지 스위치 작동만으로 재설정이 이루어져서는 안 됨 → </a:t>
            </a:r>
            <a:r>
              <a:rPr sz="2200" u="sng">
                <a:uFill>
                  <a:solidFill>
                    <a:srgbClr val="FF0000"/>
                  </a:solidFill>
                </a:uFill>
              </a:rPr>
              <a:t>별도의 RESET 버튼 필요</a:t>
            </a:r>
          </a:p>
          <a:p>
            <a:pPr marL="0" indent="0">
              <a:buNone/>
            </a:pPr>
            <a:r>
              <a:rPr sz="800"/>
              <a:t/>
            </a:r>
          </a:p>
          <a:p>
            <a:pPr marL="457200" indent="-457200">
              <a:buFont typeface="+mj-lt"/>
              <a:buAutoNum type="arabicPeriod"/>
            </a:pPr>
            <a:r>
              <a:rPr sz="2200"/>
              <a:t>구동시스템은 </a:t>
            </a:r>
            <a:r>
              <a:rPr sz="2200" u="sng">
                <a:uFill>
                  <a:solidFill>
                    <a:srgbClr val="FF0000"/>
                  </a:solidFill>
                </a:uFill>
              </a:rPr>
              <a:t>차량 외부의 인원</a:t>
            </a:r>
            <a:r>
              <a:rPr sz="2200"/>
              <a:t>에 의해서만 재설정되어야 함</a:t>
            </a:r>
          </a:p>
          <a:p>
            <a:pPr marL="0" indent="0">
              <a:buNone/>
            </a:pPr>
            <a:r>
              <a:rPr sz="800"/>
              <a:t/>
            </a:r>
          </a:p>
          <a:p>
            <a:pPr marL="457200" indent="-457200">
              <a:buFont typeface="+mj-lt"/>
              <a:buAutoNum type="arabicPeriod"/>
            </a:pPr>
            <a:r>
              <a:rPr sz="2200"/>
              <a:t>RESET 버튼은 차량 외부에 위치하며, 드라이버가 작동할 수 없는 위치에 있어야 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IMD 회로 – 전체 Schematic</a:t>
            </a:r>
          </a:p>
        </p:txBody>
      </p:sp>
      <p:pic>
        <p:nvPicPr>
          <p:cNvPr id="3" name="Picture 2" descr="SDC 전체 Schemat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67" y="1783080"/>
            <a:ext cx="6246681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5467" y="6153912"/>
            <a:ext cx="624668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800"/>
              <a:t>LEF-26 SDC 전체 Schematic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210312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IMD → BSPD → BMS 순서로 릴레이 단이 직렬 연결</a:t>
            </a:r>
          </a:p>
          <a:p>
            <a:r>
              <a:rPr sz="800"/>
              <a:t/>
            </a:r>
          </a:p>
          <a:p>
            <a:r>
              <a:rPr sz="1800"/>
              <a:t>각 단이 정상일 때 다음 단으로 전류가 전달되어 최종적으로 </a:t>
            </a:r>
            <a:r>
              <a:rPr sz="1800" u="sng">
                <a:uFill>
                  <a:solidFill>
                    <a:srgbClr val="FF0000"/>
                  </a:solidFill>
                </a:uFill>
              </a:rPr>
              <a:t>SDC_OUT</a:t>
            </a:r>
            <a:r>
              <a:rPr sz="1800"/>
              <a:t> 출력</a:t>
            </a:r>
          </a:p>
          <a:p>
            <a:r>
              <a:rPr sz="800"/>
              <a:t/>
            </a:r>
          </a:p>
          <a:p>
            <a:r>
              <a:rPr sz="1800"/>
              <a:t>다음 슬라이드에서 단계별 경로(초록색)를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IMD 회로 – IMD가 정상인 경우</a:t>
            </a:r>
          </a:p>
        </p:txBody>
      </p:sp>
      <p:pic>
        <p:nvPicPr>
          <p:cNvPr id="3" name="Picture 2" descr="IMD가 정상인 경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92666"/>
            <a:ext cx="10515600" cy="29812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4947045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800"/>
              <a:t>IMD가 정상인 경우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61207" y="5623560"/>
            <a:ext cx="1554480" cy="4572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IMD 정상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34559" y="5742432"/>
            <a:ext cx="265176" cy="219456"/>
          </a:xfrm>
          <a:prstGeom prst="rightArrow">
            <a:avLst/>
          </a:prstGeom>
          <a:solidFill>
            <a:srgbClr val="B8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18607" y="5623560"/>
            <a:ext cx="15544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>
                <a:solidFill>
                  <a:srgbClr val="595959"/>
                </a:solidFill>
              </a:rPr>
              <a:t>BSPD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91959" y="5742432"/>
            <a:ext cx="265176" cy="219456"/>
          </a:xfrm>
          <a:prstGeom prst="rightArrow">
            <a:avLst/>
          </a:prstGeom>
          <a:solidFill>
            <a:srgbClr val="B8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76007" y="5623560"/>
            <a:ext cx="15544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>
                <a:solidFill>
                  <a:srgbClr val="595959"/>
                </a:solidFill>
              </a:rPr>
              <a:t>BMS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IMD 회로 – IMD &amp; BSPD 정상</a:t>
            </a:r>
          </a:p>
        </p:txBody>
      </p:sp>
      <p:pic>
        <p:nvPicPr>
          <p:cNvPr id="3" name="Picture 2" descr="IMD &amp; BSPD가 정상인 경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92666"/>
            <a:ext cx="10515600" cy="29812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4947045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800"/>
              <a:t>IMD &amp; BSPD가 정상인 경우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61207" y="5623560"/>
            <a:ext cx="1554480" cy="4572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IMD 정상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34559" y="5742432"/>
            <a:ext cx="265176" cy="219456"/>
          </a:xfrm>
          <a:prstGeom prst="rightArrow">
            <a:avLst/>
          </a:prstGeom>
          <a:solidFill>
            <a:srgbClr val="B8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18607" y="5623560"/>
            <a:ext cx="1554480" cy="4572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BSPD 정상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91959" y="5742432"/>
            <a:ext cx="265176" cy="219456"/>
          </a:xfrm>
          <a:prstGeom prst="rightArrow">
            <a:avLst/>
          </a:prstGeom>
          <a:solidFill>
            <a:srgbClr val="B8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76007" y="5623560"/>
            <a:ext cx="15544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>
                <a:solidFill>
                  <a:srgbClr val="595959"/>
                </a:solidFill>
              </a:rPr>
              <a:t>BMS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IMD 회로 – IMD &amp; BSPD &amp; BMS 정상</a:t>
            </a:r>
          </a:p>
        </p:txBody>
      </p:sp>
      <p:pic>
        <p:nvPicPr>
          <p:cNvPr id="3" name="Picture 2" descr="IMD &amp; BSPD &amp; BMS가 정상인 경우 → SDC_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92666"/>
            <a:ext cx="10515600" cy="29812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4947045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800"/>
              <a:t>IMD &amp; BSPD &amp; BMS가 정상인 경우 → SDC_OUT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61207" y="5623560"/>
            <a:ext cx="1554480" cy="4572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IMD 정상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34559" y="5742432"/>
            <a:ext cx="265176" cy="219456"/>
          </a:xfrm>
          <a:prstGeom prst="rightArrow">
            <a:avLst/>
          </a:prstGeom>
          <a:solidFill>
            <a:srgbClr val="B8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18607" y="5623560"/>
            <a:ext cx="1554480" cy="4572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BSPD 정상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91959" y="5742432"/>
            <a:ext cx="265176" cy="219456"/>
          </a:xfrm>
          <a:prstGeom prst="rightArrow">
            <a:avLst/>
          </a:prstGeom>
          <a:solidFill>
            <a:srgbClr val="B8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76007" y="5623560"/>
            <a:ext cx="1554480" cy="4572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BMS 정상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릴레이의 동작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0840" y="2103120"/>
            <a:ext cx="4636008" cy="3931920"/>
          </a:xfrm>
        </p:spPr>
        <p:txBody>
          <a:bodyPr/>
          <a:lstStyle/>
          <a:p>
            <a:r>
              <a:rPr sz="2200"/>
              <a:t>정상적으로 운행하는 경우</a:t>
            </a:r>
          </a:p>
          <a:p>
            <a:r>
              <a:rPr sz="800"/>
              <a:t/>
            </a:r>
          </a:p>
          <a:p>
            <a:r>
              <a:rPr sz="2200"/>
              <a:t>시스템에 이상이 생긴 경우</a:t>
            </a:r>
          </a:p>
          <a:p>
            <a:r>
              <a:rPr sz="800"/>
              <a:t/>
            </a:r>
          </a:p>
          <a:p>
            <a:r>
              <a:rPr sz="2200"/>
              <a:t>리셋하는 경우</a:t>
            </a:r>
          </a:p>
          <a:p>
            <a:pPr lvl="1"/>
            <a:r>
              <a:rPr sz="2000"/>
              <a:t>이상이 해결된 경우</a:t>
            </a:r>
          </a:p>
          <a:p>
            <a:pPr lvl="1"/>
            <a:r>
              <a:rPr sz="2000"/>
              <a:t>이상이 해결되지 않은 경우</a:t>
            </a:r>
          </a:p>
        </p:txBody>
      </p:sp>
      <p:pic>
        <p:nvPicPr>
          <p:cNvPr id="4" name="Picture 3" descr="릴레이 동작 분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83012"/>
            <a:ext cx="5486400" cy="3332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4882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800"/>
              <a:t>릴레이 동작 분류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릴레이 동작 – 정상 작동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280" y="1828800"/>
            <a:ext cx="4544568" cy="4389120"/>
          </a:xfrm>
        </p:spPr>
        <p:txBody>
          <a:bodyPr/>
          <a:lstStyle/>
          <a:p>
            <a:r>
              <a:rPr sz="2000"/>
              <a:t>릴레이가 통과시켜준 전류를 자기 코일로 다시 받아서 </a:t>
            </a:r>
            <a:r>
              <a:rPr sz="2000" u="sng">
                <a:uFill>
                  <a:solidFill>
                    <a:srgbClr val="FF0000"/>
                  </a:solidFill>
                </a:uFill>
              </a:rPr>
              <a:t>스스로 닫힌 상태를 유지</a:t>
            </a:r>
          </a:p>
          <a:p>
            <a:r>
              <a:rPr sz="800"/>
              <a:t/>
            </a:r>
          </a:p>
          <a:p>
            <a:r>
              <a:rPr sz="2000"/>
              <a:t>이때 IMD 등의 신호가 끊기면 접점이 열려, 외부 도움 없이 다시 접점을 복귀시킬 수 없음</a:t>
            </a:r>
          </a:p>
          <a:p>
            <a:r>
              <a:rPr sz="800"/>
              <a:t/>
            </a:r>
          </a:p>
          <a:p>
            <a:r>
              <a:rPr sz="2000" b="1"/>
              <a:t>자기유지 (Self-holding / Self-latching)</a:t>
            </a:r>
          </a:p>
        </p:txBody>
      </p:sp>
      <p:pic>
        <p:nvPicPr>
          <p:cNvPr id="4" name="ready.mp4" descr="정상 작동 (자기유지)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2208" y="1783080"/>
            <a:ext cx="554736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2208" y="5989320"/>
            <a:ext cx="554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/>
              <a:t>▶ 정상 작동 (자기유지)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릴레이 동작 – 이상이 생긴 경우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280" y="1828800"/>
            <a:ext cx="4544568" cy="4389120"/>
          </a:xfrm>
        </p:spPr>
        <p:txBody>
          <a:bodyPr/>
          <a:lstStyle/>
          <a:p>
            <a:r>
              <a:rPr sz="2000"/>
              <a:t>IMD 신호가 끊기면 코일을 작동하던 전류가 없어지므로 </a:t>
            </a:r>
            <a:r>
              <a:rPr sz="2000" u="sng">
                <a:uFill>
                  <a:solidFill>
                    <a:srgbClr val="FF0000"/>
                  </a:solidFill>
                </a:uFill>
              </a:rPr>
              <a:t>릴레이가 열림</a:t>
            </a:r>
          </a:p>
          <a:p>
            <a:r>
              <a:rPr sz="800"/>
              <a:t/>
            </a:r>
          </a:p>
          <a:p>
            <a:r>
              <a:rPr sz="2000"/>
              <a:t>열린 릴레이는 외부에서 다시 붙이지 않을 때까지 IMD 신호가 통과하지 못함</a:t>
            </a:r>
          </a:p>
        </p:txBody>
      </p:sp>
      <p:pic>
        <p:nvPicPr>
          <p:cNvPr id="4" name="emergency.mp4" descr="이상이 생긴 경우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2208" y="1783080"/>
            <a:ext cx="554736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2208" y="5989320"/>
            <a:ext cx="554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/>
              <a:t>▶ 이상이 생긴 경우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릴레이 동작 – 다시 켜는 경우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280" y="1828800"/>
            <a:ext cx="4544568" cy="4389120"/>
          </a:xfrm>
        </p:spPr>
        <p:txBody>
          <a:bodyPr/>
          <a:lstStyle/>
          <a:p>
            <a:r>
              <a:rPr sz="2000"/>
              <a:t>IMD 신호만으로는 다시 릴레이를 닫을 수 없음</a:t>
            </a:r>
          </a:p>
          <a:p>
            <a:r>
              <a:rPr sz="800"/>
              <a:t/>
            </a:r>
          </a:p>
          <a:p>
            <a:r>
              <a:rPr sz="2000"/>
              <a:t>코일과 연결된 </a:t>
            </a:r>
            <a:r>
              <a:rPr sz="2000" u="sng">
                <a:uFill>
                  <a:solidFill>
                    <a:srgbClr val="FF0000"/>
                  </a:solidFill>
                </a:uFill>
              </a:rPr>
              <a:t>리셋 버튼</a:t>
            </a:r>
            <a:r>
              <a:rPr sz="2000"/>
              <a:t>으로 회로를 닫아줘야 함</a:t>
            </a:r>
          </a:p>
        </p:txBody>
      </p:sp>
      <p:pic>
        <p:nvPicPr>
          <p:cNvPr id="4" name="reset.mp4" descr="다시 켜는 경우 (리셋)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2208" y="1783080"/>
            <a:ext cx="554736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2208" y="5989320"/>
            <a:ext cx="554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/>
              <a:t>▶ 다시 켜는 경우 (리셋)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MOSFET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373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2000"/>
              <a:t>Gate에 전압을 걸어 주면, </a:t>
            </a:r>
            <a:r>
              <a:rPr sz="2000" u="sng">
                <a:uFill>
                  <a:solidFill>
                    <a:srgbClr val="FF0000"/>
                  </a:solidFill>
                </a:uFill>
              </a:rPr>
              <a:t>Drain → Source</a:t>
            </a:r>
            <a:r>
              <a:rPr sz="2000"/>
              <a:t>로 전류가 흐름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2560320"/>
          <a:ext cx="5120637" cy="2103120"/>
        </p:xfrm>
        <a:graphic>
          <a:graphicData uri="http://schemas.openxmlformats.org/drawingml/2006/table">
            <a:tbl>
              <a:tblPr firstRow="1" bandRow="1"/>
              <a:tblGrid>
                <a:gridCol w="1706879"/>
                <a:gridCol w="1706879"/>
                <a:gridCol w="1706879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Drain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1560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/>
                        <a:t>LOW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/>
                        <a:t>LOW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/>
                        <a:t>LOW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/>
                        <a:t>HIGH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/>
                        <a:t>LOW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/>
                        <a:t>LOW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/>
                        <a:t>LOW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/>
                        <a:t>HIGH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/>
                        <a:t>LOW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/>
                        <a:t>HIGH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/>
                        <a:t>HIGH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2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48463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600"/>
              <a:t>Gate와 Drain이 모두 HIGH일 때만 Source가 HIGH → </a:t>
            </a:r>
            <a:r>
              <a:rPr sz="1600" u="sng">
                <a:uFill>
                  <a:solidFill>
                    <a:srgbClr val="FF0000"/>
                  </a:solidFill>
                </a:uFill>
              </a:rPr>
              <a:t>AND 게이트</a:t>
            </a:r>
            <a:r>
              <a:rPr sz="1600"/>
              <a:t>처럼 동작</a:t>
            </a:r>
          </a:p>
        </p:txBody>
      </p:sp>
      <p:pic>
        <p:nvPicPr>
          <p:cNvPr id="6" name="Picture 5" descr="MOSFET 기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392" y="1783080"/>
            <a:ext cx="4630014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00392" y="4206240"/>
            <a:ext cx="463001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/>
              <a:t>MOSFET (Drain / Gate / Source)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5720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LEF-26 SDC에서는 전압을 적절하게 걸어 AND 게이트처럼 사용한 것으로 보임</a:t>
            </a:r>
          </a:p>
          <a:p>
            <a:r>
              <a:rPr sz="800"/>
              <a:t/>
            </a:r>
          </a:p>
          <a:p>
            <a:r>
              <a:rPr sz="1600"/>
              <a:t>부하가 Source 뒤 → </a:t>
            </a:r>
            <a:r>
              <a:rPr sz="1600" b="1"/>
              <a:t>High-side</a:t>
            </a:r>
            <a:r>
              <a:rPr sz="1600"/>
              <a:t>,  Drain 앞 → </a:t>
            </a:r>
            <a:r>
              <a:rPr sz="1600" b="1"/>
              <a:t>Low-side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RESET – IMD가 정상인 경우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280" y="1828800"/>
            <a:ext cx="4544568" cy="4389120"/>
          </a:xfrm>
        </p:spPr>
        <p:txBody>
          <a:bodyPr/>
          <a:lstStyle/>
          <a:p>
            <a:r>
              <a:rPr sz="1800"/>
              <a:t>IMD 신호가 정상이면 Gate에 전압이 걸려 리셋 신호를 통과시킬 수 있음</a:t>
            </a:r>
          </a:p>
          <a:p>
            <a:r>
              <a:rPr sz="800"/>
              <a:t/>
            </a:r>
          </a:p>
          <a:p>
            <a:r>
              <a:rPr sz="1800"/>
              <a:t>리셋 버튼을 누르면 Drain → Source를 거쳐 코일에 전압이 걸리고 </a:t>
            </a:r>
            <a:r>
              <a:rPr sz="1800" u="sng">
                <a:uFill>
                  <a:solidFill>
                    <a:srgbClr val="FF0000"/>
                  </a:solidFill>
                </a:uFill>
              </a:rPr>
              <a:t>릴레이가 닫힘</a:t>
            </a:r>
          </a:p>
          <a:p>
            <a:r>
              <a:rPr sz="800"/>
              <a:t/>
            </a:r>
          </a:p>
          <a:p>
            <a:r>
              <a:rPr sz="1800"/>
              <a:t>이후 5번 핀이 코일의 전압을 유지 → 리셋 신호가 더 이상 없어도 닫힌 상태 유지</a:t>
            </a:r>
          </a:p>
        </p:txBody>
      </p:sp>
      <p:pic>
        <p:nvPicPr>
          <p:cNvPr id="4" name="imd_normal.mp4" descr="IMD 정상 (IMD 신호가 들어오는 경우)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2208" y="1783080"/>
            <a:ext cx="554736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2208" y="5989320"/>
            <a:ext cx="554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/>
              <a:t>▶ IMD 정상 (IMD 신호가 들어오는 경우)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RESET – IMD가 비정상인 경우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280" y="1828800"/>
            <a:ext cx="4544568" cy="4389120"/>
          </a:xfrm>
        </p:spPr>
        <p:txBody>
          <a:bodyPr/>
          <a:lstStyle/>
          <a:p>
            <a:r>
              <a:rPr sz="1800"/>
              <a:t>IMD 신호가 비정상(LOW)이면 Gate에 전압이 걸리지 않아 리셋 신호를 통과시킬 수 없음</a:t>
            </a:r>
          </a:p>
          <a:p>
            <a:r>
              <a:rPr sz="800"/>
              <a:t/>
            </a:r>
          </a:p>
          <a:p>
            <a:r>
              <a:rPr sz="1800"/>
              <a:t>리셋 버튼을 눌러도 MOSFET에서 막히기 때문에 코일을 닫을 수 없음</a:t>
            </a:r>
          </a:p>
          <a:p>
            <a:r>
              <a:rPr sz="800"/>
              <a:t/>
            </a:r>
          </a:p>
          <a:p>
            <a:r>
              <a:rPr sz="1800"/>
              <a:t>→ IMD가 비정상일 때 </a:t>
            </a:r>
            <a:r>
              <a:rPr sz="1800" u="sng">
                <a:uFill>
                  <a:solidFill>
                    <a:srgbClr val="FF0000"/>
                  </a:solidFill>
                </a:uFill>
              </a:rPr>
              <a:t>SDC가 닫히는 것을 막음</a:t>
            </a:r>
          </a:p>
        </p:txBody>
      </p:sp>
      <p:pic>
        <p:nvPicPr>
          <p:cNvPr id="4" name="imd_fail.mp4" descr="IMD 비정상 (IMD 신호가 들어오지 않는 경우)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2208" y="1783080"/>
            <a:ext cx="554736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2208" y="5989320"/>
            <a:ext cx="554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/>
              <a:t>▶ IMD 비정상 (IMD 신호가 들어오지 않는 경우)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BSPD 10초 규정</a:t>
            </a:r>
          </a:p>
        </p:txBody>
      </p:sp>
      <p:sp>
        <p:nvSpPr>
          <p:cNvPr id="3" name="강조"/>
          <p:cNvSpPr/>
          <p:nvPr/>
        </p:nvSpPr>
        <p:spPr>
          <a:xfrm>
            <a:off x="841248" y="1783080"/>
            <a:ext cx="10515600" cy="77724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78308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800"/>
              <a:t>BSPD가 이상을 감지하고 </a:t>
            </a:r>
            <a:r>
              <a:rPr sz="1800" u="sng">
                <a:uFill>
                  <a:solidFill>
                    <a:srgbClr val="FF0000"/>
                  </a:solidFill>
                </a:uFill>
              </a:rPr>
              <a:t>10초 이상</a:t>
            </a:r>
            <a:r>
              <a:rPr sz="1800"/>
              <a:t> 지난 후에는, 별도 리셋 버튼을 누르지 않고도 스스로 정상 상태로 돌아올 수 있음</a:t>
            </a:r>
          </a:p>
        </p:txBody>
      </p:sp>
      <p:pic>
        <p:nvPicPr>
          <p:cNvPr id="5" name="Picture 4" descr="LTC6994-1 지연 블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51" y="2788920"/>
            <a:ext cx="5077152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151" y="5989320"/>
            <a:ext cx="5077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/>
              <a:t>LTC6994-1 지연 블럭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7889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LTC6994-1은 저항 연결에 따라 전압이 </a:t>
            </a:r>
            <a:r>
              <a:rPr sz="1800" u="sng">
                <a:uFill>
                  <a:solidFill>
                    <a:srgbClr val="FF0000"/>
                  </a:solidFill>
                </a:uFill>
              </a:rPr>
              <a:t>상승</a:t>
            </a:r>
            <a:r>
              <a:rPr sz="1800"/>
              <a:t>할 때 또는 </a:t>
            </a:r>
            <a:r>
              <a:rPr sz="1800" u="sng">
                <a:uFill>
                  <a:solidFill>
                    <a:srgbClr val="FF0000"/>
                  </a:solidFill>
                </a:uFill>
              </a:rPr>
              <a:t>하강</a:t>
            </a:r>
            <a:r>
              <a:rPr sz="1800"/>
              <a:t>할 때를 골라 지연시킬 수 있음</a:t>
            </a:r>
          </a:p>
          <a:p>
            <a:r>
              <a:rPr sz="800"/>
              <a:t/>
            </a:r>
          </a:p>
          <a:p>
            <a:r>
              <a:rPr sz="1800"/>
              <a:t>BSPD 정상 = HIGH</a:t>
            </a:r>
          </a:p>
          <a:p>
            <a:pPr lvl="1"/>
            <a:r>
              <a:rPr sz="1600"/>
              <a:t>HIGH → LOW (이상 감지) : 즉시 출력</a:t>
            </a:r>
          </a:p>
          <a:p>
            <a:pPr lvl="1"/>
            <a:r>
              <a:rPr sz="1600"/>
              <a:t>LOW → HIGH (복구) : </a:t>
            </a:r>
            <a:r>
              <a:rPr sz="1600" b="1"/>
              <a:t>10초 지연</a:t>
            </a:r>
            <a:r>
              <a:rPr sz="1600"/>
              <a:t> 후 출력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BSPD 10초 규정 – 타이밍</a:t>
            </a:r>
          </a:p>
        </p:txBody>
      </p:sp>
      <p:pic>
        <p:nvPicPr>
          <p:cNvPr id="3" name="Picture 2" descr="BSPD vs LTC6994 타이밍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78" y="1783080"/>
            <a:ext cx="6027498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2178" y="6035040"/>
            <a:ext cx="60274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/>
              <a:t>BSPD vs LTC6994 Signal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874519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4800" b="1">
                <a:solidFill>
                  <a:srgbClr val="156082"/>
                </a:solidFill>
              </a:rPr>
              <a:t>5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9747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600">
                <a:solidFill>
                  <a:srgbClr val="595959"/>
                </a:solidFill>
              </a:rPr>
              <a:t>BSPD 신호 복구 (HIGH)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291839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4800" b="1">
                <a:solidFill>
                  <a:srgbClr val="FF0000"/>
                </a:solidFill>
              </a:rPr>
              <a:t>15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1148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600">
                <a:solidFill>
                  <a:srgbClr val="595959"/>
                </a:solidFill>
              </a:rPr>
              <a:t>BSPD+10reset 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600"/>
              <a:t>BSPD 신호가 복구된 후 </a:t>
            </a:r>
            <a:r>
              <a:rPr sz="1600" u="sng">
                <a:uFill>
                  <a:solidFill>
                    <a:srgbClr val="FF0000"/>
                  </a:solidFill>
                </a:uFill>
              </a:rPr>
              <a:t>10초 지연</a:t>
            </a:r>
            <a:r>
              <a:rPr sz="1600"/>
              <a:t>되어 BSPD+10reset 신호가 출력되는 것을 확인할 수 있음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BSPD 10초 규정 – SDC 로직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0" y="2011680"/>
            <a:ext cx="4224528" cy="4023360"/>
          </a:xfrm>
        </p:spPr>
        <p:txBody>
          <a:bodyPr/>
          <a:lstStyle/>
          <a:p>
            <a:r>
              <a:rPr sz="2000"/>
              <a:t>SDC에서는 이 규정을 반영하여 로직을 구현</a:t>
            </a:r>
          </a:p>
          <a:p>
            <a:r>
              <a:rPr sz="800"/>
              <a:t/>
            </a:r>
          </a:p>
          <a:p>
            <a:r>
              <a:rPr sz="2000" u="sng">
                <a:uFill>
                  <a:solidFill>
                    <a:srgbClr val="FF0000"/>
                  </a:solidFill>
                </a:uFill>
              </a:rPr>
              <a:t>Reset_opto</a:t>
            </a:r>
            <a:r>
              <a:rPr sz="2000"/>
              <a:t> 또는 </a:t>
            </a:r>
            <a:r>
              <a:rPr sz="2000" u="sng">
                <a:uFill>
                  <a:solidFill>
                    <a:srgbClr val="FF0000"/>
                  </a:solidFill>
                </a:uFill>
              </a:rPr>
              <a:t>BSPD+10s</a:t>
            </a:r>
            <a:r>
              <a:rPr sz="2000"/>
              <a:t> 신호 둘 중 하나만 들어오더라도 릴레이를 닫음</a:t>
            </a:r>
          </a:p>
          <a:p>
            <a:r>
              <a:rPr sz="800"/>
              <a:t/>
            </a:r>
          </a:p>
          <a:p>
            <a:r>
              <a:rPr sz="2000"/>
              <a:t>→ 10초가 지나면 리셋 버튼 없이 BSPD 단이 복구됨</a:t>
            </a:r>
          </a:p>
        </p:txBody>
      </p:sp>
      <p:pic>
        <p:nvPicPr>
          <p:cNvPr id="4" name="Picture 3" descr="Reset_opto / BSPD+10s 로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5114"/>
            <a:ext cx="5943600" cy="33878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48868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/>
              <a:t>Reset_opto / BSPD+10s 입력부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개선사항 – Low-side 구조</a:t>
            </a:r>
          </a:p>
        </p:txBody>
      </p:sp>
      <p:pic>
        <p:nvPicPr>
          <p:cNvPr id="3" name="Picture 2" descr="Low-side SDC 회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05" y="1783080"/>
            <a:ext cx="9862285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7905" y="5029200"/>
            <a:ext cx="986228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/>
              <a:t>Low-side로 변형한 SDC 회로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440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Source 뒤쪽에 코일이 연결되어 있는 High-side 구조 회로를 </a:t>
            </a:r>
            <a:r>
              <a:rPr sz="2000" u="sng">
                <a:uFill>
                  <a:solidFill>
                    <a:srgbClr val="FF0000"/>
                  </a:solidFill>
                </a:uFill>
              </a:rPr>
              <a:t>Low-side</a:t>
            </a:r>
            <a:r>
              <a:rPr sz="2000"/>
              <a:t> 회로로 변형시킨 회로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개선사항 – Falstad 시뮬레이션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280" y="1828800"/>
            <a:ext cx="4544568" cy="4389120"/>
          </a:xfrm>
        </p:spPr>
        <p:txBody>
          <a:bodyPr/>
          <a:lstStyle/>
          <a:p>
            <a:r>
              <a:rPr sz="1700"/>
              <a:t>MOSFET이 켜지려면 Gate가 Source보다 높은 전압을 받아야 함</a:t>
            </a:r>
          </a:p>
          <a:p>
            <a:r>
              <a:rPr sz="800"/>
              <a:t/>
            </a:r>
          </a:p>
          <a:p>
            <a:r>
              <a:rPr sz="1700" b="1"/>
              <a:t>High-side</a:t>
            </a:r>
            <a:r>
              <a:rPr sz="1700"/>
              <a:t> : Source가 부하(릴레이 코일) 앞에 있어 전압이 높음 → Gate 전압이 충분하지 않으면 </a:t>
            </a:r>
            <a:r>
              <a:rPr sz="1700" u="sng">
                <a:uFill>
                  <a:solidFill>
                    <a:srgbClr val="FF0000"/>
                  </a:solidFill>
                </a:uFill>
              </a:rPr>
              <a:t>MOSFET이 켜지지 않을 수 있음</a:t>
            </a:r>
          </a:p>
          <a:p>
            <a:r>
              <a:rPr sz="800"/>
              <a:t/>
            </a:r>
          </a:p>
          <a:p>
            <a:r>
              <a:rPr sz="1700" b="1"/>
              <a:t>Low-side</a:t>
            </a:r>
            <a:r>
              <a:rPr sz="1700"/>
              <a:t> : Source를 Ground에 직결 → Source 0 V → 문제 발생 가능성 낮음</a:t>
            </a:r>
          </a:p>
        </p:txBody>
      </p:sp>
      <p:pic>
        <p:nvPicPr>
          <p:cNvPr id="4" name="falstad_sdc_lowside.mp4" descr="Falstad 시뮬레이션 (Low-side)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1248" y="1887052"/>
            <a:ext cx="5669280" cy="3952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885347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/>
              <a:t>▶ Falstad 시뮬레이션 (Low-side)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t>개선사항 – 한계와 검토 사항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설계상 한계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41248" y="2478024"/>
            <a:ext cx="5157216" cy="2514600"/>
          </a:xfrm>
        </p:spPr>
        <p:txBody>
          <a:bodyPr/>
          <a:lstStyle/>
          <a:p>
            <a:r>
              <a:rPr sz="1700"/>
              <a:t>Low-side 구조만을 반영한 회로 → 코일 역기전력 Flyback 다이오드 등의 설계에 오류가 있을 수 있음</a:t>
            </a:r>
          </a:p>
          <a:p>
            <a:r>
              <a:rPr sz="800"/>
              <a:t/>
            </a:r>
          </a:p>
          <a:p>
            <a:r>
              <a:rPr sz="1700"/>
              <a:t>전 대회에서 기존 설계대로 만들 수밖에 없었던 규정 및 기술적 배경이 존재할 수 있음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단락 위험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478024"/>
            <a:ext cx="5184648" cy="2514600"/>
          </a:xfrm>
        </p:spPr>
        <p:txBody>
          <a:bodyPr/>
          <a:lstStyle/>
          <a:p>
            <a:r>
              <a:rPr sz="1700"/>
              <a:t>1번 핀과 MOSFET 사이의 전선이 Ground와 단락되면 </a:t>
            </a:r>
            <a:r>
              <a:rPr sz="1700" u="sng">
                <a:uFill>
                  <a:solidFill>
                    <a:srgbClr val="FF0000"/>
                  </a:solidFill>
                </a:uFill>
              </a:rPr>
              <a:t>릴레이가 항상 닫힘</a:t>
            </a:r>
          </a:p>
          <a:p>
            <a:r>
              <a:rPr sz="800"/>
              <a:t/>
            </a:r>
          </a:p>
          <a:p>
            <a:r>
              <a:rPr sz="1700"/>
              <a:t>→ IMD에 문제가 발생해도 SDC가 차단되지 않을 수 있음</a:t>
            </a:r>
          </a:p>
        </p:txBody>
      </p:sp>
      <p:sp>
        <p:nvSpPr>
          <p:cNvPr id="7" name="강조"/>
          <p:cNvSpPr/>
          <p:nvPr/>
        </p:nvSpPr>
        <p:spPr>
          <a:xfrm>
            <a:off x="841248" y="5257800"/>
            <a:ext cx="10515600" cy="82296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800"/>
              <a:t>추가적인 벤치마킹 및 스터디를 통해 기존 설계와 비교하여 </a:t>
            </a:r>
            <a:r>
              <a:rPr sz="1800" b="1"/>
              <a:t>Low-side 구조 채택 여부</a:t>
            </a:r>
            <a:r>
              <a:rPr sz="1800"/>
              <a:t>를 결정해야 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118</Words>
  <Application>Microsoft Macintosh PowerPoint</Application>
  <PresentationFormat>와이드스크린</PresentationFormat>
  <Paragraphs>17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Cambria Math</vt:lpstr>
      <vt:lpstr>Office 테마</vt:lpstr>
      <vt:lpstr>9.17 스터디</vt:lpstr>
      <vt:lpstr>AIR (Accumulator Isolation Relay)</vt:lpstr>
      <vt:lpstr>Precharge - 돌입전류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류보선</dc:creator>
  <cp:lastModifiedBy>류보선</cp:lastModifiedBy>
  <cp:revision>2</cp:revision>
  <dcterms:created xsi:type="dcterms:W3CDTF">2026-09-15T08:29:04Z</dcterms:created>
  <dcterms:modified xsi:type="dcterms:W3CDTF">2026-09-16T15:05:21Z</dcterms:modified>
</cp:coreProperties>
</file>