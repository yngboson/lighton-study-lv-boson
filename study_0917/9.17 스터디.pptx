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38AC66-DFD7-D74B-A261-04A31C3C3E37}" v="2" dt="2026-09-16T13:08:56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567"/>
  </p:normalViewPr>
  <p:slideViewPr>
    <p:cSldViewPr snapToGrid="0">
      <p:cViewPr varScale="1">
        <p:scale>
          <a:sx n="103" d="100"/>
          <a:sy n="103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02C3D-9A5C-594A-8D42-1D02D78E7BA9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78BA5-E153-774A-8257-E88E1738900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426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0F578-683F-81A7-C52A-6FCA90314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ED794-F2B4-FC46-A067-22ADFB682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B82D68-B421-8D10-A6C3-08459B9C2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C8ED4-676E-DBAB-CF04-0961C173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7FD51B-4887-DACD-62C0-0C76C73C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500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93DB0-AC5C-E95B-0A28-ED5351EA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8D608-9CCE-445B-94E4-7698D2D89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71AFC4-0090-4553-A911-1569CB40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69BB44-1BFB-2A5B-C967-4C300D5D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019D2E-D60F-CA64-31DE-A4613594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626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7B546-D751-A4D5-31F0-534E81F81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EA98D0-F3AE-0D76-ADBE-D32D98CC8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3B888E-1BEF-2D98-F382-B4DFEA755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97EAAE-D4C5-9F56-0E74-349FF414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C99F15-B3CD-4D9F-6740-06487CCE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358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CD294-E3B4-F423-2D45-DAFC8F72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E288B4-C460-3FBC-E94D-6049D23E2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63936C-B77B-DFCF-615B-53A009A10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8E77E7-24A3-4A72-E3B3-76937297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476687-61AE-3C72-5140-F58BAB0A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57A9E1-FC9E-6E46-006A-FEB66A2C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077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AAE23-AF62-82B0-1417-C9484AC00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0DF7F-F1BB-0C0C-D3D1-13501A695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9AC447-1119-F3E8-3B4A-2791215F5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85DBC2-2BB7-0DA2-067B-7D0D19E9E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6C8865-4BE6-F26C-04D9-70FF16F2A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9E9ADA-A81C-56D0-D50C-332DB891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284AA5-3DC4-6683-13FC-8F52EA1F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AA854D-2B3D-F643-A492-1A004D05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1795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F5274-2FDC-ADCC-CA68-C8DC4B49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F311268-C9DA-78B4-9CFC-741529F1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9C9292-C9F7-7C94-CE80-C0A0ACD2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3334DF-AAE1-3BF4-F982-5A81D0EA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033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76EBCB-D626-2F03-58C9-BA4BCDD71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42021F-3010-E1D2-E7E0-FCFC0253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6AB2B-9055-7EB6-EBEA-B654F989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8318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09E94A-8B47-4E23-6A7F-1452E0A8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D38E6-FBDA-A7C2-A1F7-91BBC5648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BF1E1C-5764-3F41-8CB8-681086D16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B1E860-A6F4-384E-1EEC-188EC128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D22DEC-3850-B2D9-55B0-9578D74F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90D1FC-E839-E8B0-F91A-D5508F7E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217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22811-223E-60AB-775F-1186B597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D24B8A-0D00-65FC-B1B5-78AAFAB05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3AC118-6AE8-F24F-26C3-1D90CB4D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50D8C8-1036-2191-57F9-E98ED01C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5463D6-19C9-2DA9-1861-A70C6CCA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43F56B-2726-2F0A-EE92-F71C4DDC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616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417C2-31B2-73FF-35FC-D9A6A77D2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59FB72-E774-F67A-8E6B-7E6FCE849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C298C0-CD3A-3C17-0040-1A04B6C1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4E41A6-5E81-3C6A-137B-110E941C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189E42-9B89-8758-99AF-DF47431C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3342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44B9F7-9521-0433-1653-05220F9D9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13118F-8BE3-4333-9546-7B911F1FE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E1430C-C8FD-6002-FEE5-91ADAECF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6FA21E-8DE9-43D3-A0AD-EB104159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D98AC5-CCFE-E9BE-AB1C-C9896FBA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0765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FBFF90-A825-76CD-CEEB-9CED23164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EDB7A5-F03C-E8FB-1ADD-5971FA8CF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B1C00A-8A40-A79F-F505-34424A2E7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2694B-31D4-DC41-813B-AF379BBF2E0E}" type="datetimeFigureOut">
              <a:rPr kumimoji="1" lang="ko-KR" altLang="en-US" smtClean="0"/>
              <a:t>2026. 9. 17.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94E100-9C04-53B5-6E4D-295AC8B4E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28F77-0AF0-9792-3DA7-D57823965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8DCD3-4B88-644A-9659-1108BF6CC567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5CFC7C-9595-6920-B0A0-A7405408FD52}"/>
              </a:ext>
            </a:extLst>
          </p:cNvPr>
          <p:cNvSpPr/>
          <p:nvPr userDrawn="1"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0FA10A-9FE7-1EFE-2859-FF90C51E0BBB}"/>
              </a:ext>
            </a:extLst>
          </p:cNvPr>
          <p:cNvSpPr txBox="1"/>
          <p:nvPr userDrawn="1"/>
        </p:nvSpPr>
        <p:spPr>
          <a:xfrm>
            <a:off x="0" y="109685"/>
            <a:ext cx="2495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400" dirty="0">
                <a:solidFill>
                  <a:schemeClr val="bg1"/>
                </a:solidFill>
              </a:rPr>
              <a:t>26.09.17 </a:t>
            </a:r>
            <a:r>
              <a:rPr kumimoji="1" lang="ko-KR" altLang="en-US" sz="2400" dirty="0">
                <a:solidFill>
                  <a:schemeClr val="bg1"/>
                </a:solidFill>
              </a:rPr>
              <a:t>스터디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43EC9-7886-EA43-D0DE-F5D264FB1368}"/>
              </a:ext>
            </a:extLst>
          </p:cNvPr>
          <p:cNvSpPr txBox="1"/>
          <p:nvPr userDrawn="1"/>
        </p:nvSpPr>
        <p:spPr>
          <a:xfrm>
            <a:off x="3808207" y="109685"/>
            <a:ext cx="4575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dirty="0">
                <a:solidFill>
                  <a:schemeClr val="bg1"/>
                </a:solidFill>
              </a:rPr>
              <a:t>AIR, </a:t>
            </a:r>
            <a:r>
              <a:rPr kumimoji="1" lang="ko-KR" altLang="en-US" sz="2400" dirty="0" err="1">
                <a:solidFill>
                  <a:schemeClr val="bg1"/>
                </a:solidFill>
              </a:rPr>
              <a:t>프리차지</a:t>
            </a:r>
            <a:r>
              <a:rPr kumimoji="1" lang="en-US" altLang="ko-KR" sz="2400" dirty="0">
                <a:solidFill>
                  <a:schemeClr val="bg1"/>
                </a:solidFill>
              </a:rPr>
              <a:t>,</a:t>
            </a:r>
            <a:r>
              <a:rPr kumimoji="1" lang="ko-KR" altLang="en-US" sz="2400" dirty="0">
                <a:solidFill>
                  <a:schemeClr val="bg1"/>
                </a:solidFill>
              </a:rPr>
              <a:t> </a:t>
            </a:r>
            <a:r>
              <a:rPr kumimoji="1" lang="ko-KR" altLang="en-US" sz="2400" dirty="0" err="1">
                <a:solidFill>
                  <a:schemeClr val="bg1"/>
                </a:solidFill>
              </a:rPr>
              <a:t>디스차지</a:t>
            </a:r>
            <a:r>
              <a:rPr kumimoji="1" lang="en-US" altLang="ko-KR" sz="2400" dirty="0">
                <a:solidFill>
                  <a:schemeClr val="bg1"/>
                </a:solidFill>
              </a:rPr>
              <a:t>,</a:t>
            </a:r>
            <a:r>
              <a:rPr kumimoji="1" lang="ko-KR" altLang="en-US" sz="2400" dirty="0">
                <a:solidFill>
                  <a:schemeClr val="bg1"/>
                </a:solidFill>
              </a:rPr>
              <a:t> </a:t>
            </a:r>
            <a:r>
              <a:rPr kumimoji="1" lang="en-US" altLang="ko-KR" sz="2400" dirty="0">
                <a:solidFill>
                  <a:schemeClr val="bg1"/>
                </a:solidFill>
              </a:rPr>
              <a:t>TSMP</a:t>
            </a:r>
            <a:endParaRPr kumimoji="1"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BEBC3-198F-2C72-2B45-737826FBF4B2}"/>
              </a:ext>
            </a:extLst>
          </p:cNvPr>
          <p:cNvSpPr txBox="1"/>
          <p:nvPr userDrawn="1"/>
        </p:nvSpPr>
        <p:spPr>
          <a:xfrm>
            <a:off x="9696226" y="109685"/>
            <a:ext cx="2495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2400" dirty="0">
                <a:solidFill>
                  <a:schemeClr val="bg1"/>
                </a:solidFill>
              </a:rPr>
              <a:t>류보선</a:t>
            </a:r>
          </a:p>
        </p:txBody>
      </p:sp>
    </p:spTree>
    <p:extLst>
      <p:ext uri="{BB962C8B-B14F-4D97-AF65-F5344CB8AC3E}">
        <p14:creationId xmlns:p14="http://schemas.microsoft.com/office/powerpoint/2010/main" val="389621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buNone/>
            </a:pPr>
            <a:r>
              <a:rPr kumimoji="1" lang="en-US" altLang="ko-KR" dirty="0"/>
              <a:t>9.17</a:t>
            </a:r>
            <a:r>
              <a:rPr kumimoji="1" lang="ko-KR" altLang="en-US" dirty="0"/>
              <a:t> 스터디</a:t>
            </a:r>
          </a:p>
        </p:txBody>
      </p:sp>
      <p:sp>
        <p:nvSpPr>
          <p:cNvPr id="102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kumimoji="1" lang="en-US" altLang="ko-KR" dirty="0"/>
              <a:t>AIR, Pre-charge, Discharge, TSMP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en-US" altLang="ko-KR" dirty="0"/>
              <a:t>AIR (Accumulator Isolation Relay)</a:t>
            </a:r>
            <a:endParaRPr kumimoji="1" lang="ko-KR" altLang="en-US" dirty="0"/>
          </a:p>
        </p:txBody>
      </p:sp>
      <p:sp>
        <p:nvSpPr>
          <p:cNvPr id="104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900000" cy="4351338"/>
          </a:xfrm>
        </p:spPr>
        <p:txBody>
          <a:bodyPr/>
          <a:lstStyle/>
          <a:p>
            <a:r>
              <a:rPr kumimoji="1" lang="ko-KR" altLang="en-US" sz="2400" dirty="0"/>
              <a:t>배터리 팩과 구동 시스템 사이의 </a:t>
            </a:r>
            <a:r>
              <a:rPr kumimoji="1" lang="ko-KR" altLang="en-US" sz="2400" u="sng" dirty="0">
                <a:uFill>
                  <a:solidFill>
                    <a:srgbClr val="FF0000"/>
                  </a:solidFill>
                </a:uFill>
              </a:rPr>
              <a:t>절연</a:t>
            </a:r>
            <a:r>
              <a:rPr kumimoji="1" lang="ko-KR" altLang="en-US" sz="2400" dirty="0"/>
              <a:t>을 담당하는 대형 릴레이</a:t>
            </a:r>
          </a:p>
          <a:p>
            <a:endParaRPr kumimoji="1" lang="ko-KR" altLang="en-US" sz="800" dirty="0"/>
          </a:p>
          <a:p>
            <a:r>
              <a:rPr kumimoji="1" lang="ko-KR" altLang="en-US" sz="2400" dirty="0"/>
              <a:t>코일을 이용해 접점을 붙임</a:t>
            </a:r>
          </a:p>
          <a:p>
            <a:endParaRPr kumimoji="1" lang="ko-KR" altLang="en-US" sz="800" dirty="0"/>
          </a:p>
          <a:p>
            <a:r>
              <a:rPr kumimoji="1" lang="ko-KR" altLang="en-US" sz="2400" dirty="0"/>
              <a:t>Aux 리드 동작 방식에 따라 </a:t>
            </a:r>
            <a:r>
              <a:rPr kumimoji="1" lang="en-US" altLang="ko-KR" sz="2400" dirty="0"/>
              <a:t>NO / NC</a:t>
            </a:r>
            <a:r>
              <a:rPr kumimoji="1" lang="ko-KR" altLang="en-US" sz="2400" dirty="0"/>
              <a:t> 타입이 있음</a:t>
            </a:r>
          </a:p>
        </p:txBody>
      </p:sp>
      <p:pic>
        <p:nvPicPr>
          <p:cNvPr id="105" name="그림 106" descr="Kilovac EV200 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800" y="2150000"/>
            <a:ext cx="4400000" cy="2482051"/>
          </a:xfrm>
          <a:prstGeom prst="rect">
            <a:avLst/>
          </a:prstGeom>
        </p:spPr>
      </p:pic>
      <p:sp>
        <p:nvSpPr>
          <p:cNvPr id="107" name="TextBox 108"/>
          <p:cNvSpPr txBox="1"/>
          <p:nvPr/>
        </p:nvSpPr>
        <p:spPr>
          <a:xfrm>
            <a:off x="6953800" y="4792051"/>
            <a:ext cx="4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en-US" altLang="ko-KR" dirty="0"/>
              <a:t>Kilovac EV200 AIR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ko-KR" altLang="en-US" dirty="0"/>
              <a:t>AIR 관련 규정 – SDC / 인터락</a:t>
            </a:r>
          </a:p>
        </p:txBody>
      </p:sp>
      <p:sp>
        <p:nvSpPr>
          <p:cNvPr id="110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900000" cy="4351338"/>
          </a:xfrm>
        </p:spPr>
        <p:txBody>
          <a:bodyPr/>
          <a:lstStyle/>
          <a:p>
            <a:r>
              <a:rPr kumimoji="1" lang="en-US" altLang="ko-KR" sz="2000" dirty="0"/>
              <a:t>SDC</a:t>
            </a:r>
            <a:r>
              <a:rPr kumimoji="1" lang="ko-KR" altLang="en-US" sz="2000" dirty="0"/>
              <a:t>가 열리거나 중단된 경우 </a:t>
            </a:r>
            <a:r>
              <a:rPr kumimoji="1" lang="ko-KR" altLang="en-US" sz="2000" u="sng" dirty="0">
                <a:uFill>
                  <a:solidFill>
                    <a:srgbClr val="FF0000"/>
                  </a:solidFill>
                </a:uFill>
              </a:rPr>
              <a:t>AIR가 개방</a:t>
            </a:r>
            <a:r>
              <a:rPr kumimoji="1" lang="ko-KR" altLang="en-US" sz="2000" dirty="0"/>
              <a:t>되어야 함</a:t>
            </a:r>
          </a:p>
          <a:p>
            <a:endParaRPr kumimoji="1" lang="ko-KR" altLang="en-US" sz="800" dirty="0"/>
          </a:p>
          <a:p>
            <a:r>
              <a:rPr kumimoji="1" lang="en-US" altLang="ko-KR" sz="2000" dirty="0"/>
              <a:t>SDC</a:t>
            </a:r>
            <a:r>
              <a:rPr kumimoji="1" lang="ko-KR" altLang="en-US" sz="2000" dirty="0"/>
              <a:t>는 인터락 · 비상정지버튼 · IMD · BSPD 등 안전장치가 </a:t>
            </a:r>
            <a:r>
              <a:rPr kumimoji="1" lang="ko-KR" altLang="en-US" sz="2000" u="sng" dirty="0">
                <a:uFill>
                  <a:solidFill>
                    <a:srgbClr val="FF0000"/>
                  </a:solidFill>
                </a:uFill>
              </a:rPr>
              <a:t>직렬로 연결</a:t>
            </a:r>
            <a:r>
              <a:rPr kumimoji="1" lang="ko-KR" altLang="en-US" sz="2000" dirty="0"/>
              <a:t>된 회로</a:t>
            </a:r>
          </a:p>
          <a:p>
            <a:endParaRPr kumimoji="1" lang="ko-KR" altLang="en-US" sz="800" dirty="0"/>
          </a:p>
          <a:p>
            <a:r>
              <a:rPr kumimoji="1" lang="ko-KR" altLang="en-US" sz="2000" dirty="0"/>
              <a:t>전원이 없으면 기본적으로 열려서</a:t>
            </a:r>
            <a:r>
              <a:rPr kumimoji="1" lang="en-US" altLang="ko-KR" sz="2000" dirty="0"/>
              <a:t>(NO)</a:t>
            </a:r>
            <a:r>
              <a:rPr kumimoji="1" lang="ko-KR" altLang="en-US" sz="2000" dirty="0"/>
              <a:t> AIR 코일에 전류가 흐르지 않음</a:t>
            </a:r>
          </a:p>
        </p:txBody>
      </p:sp>
      <p:pic>
        <p:nvPicPr>
          <p:cNvPr id="111" name="그림 112" descr="HV 커넥터 인터락 배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800" y="2300000"/>
            <a:ext cx="4300000" cy="2709000"/>
          </a:xfrm>
          <a:prstGeom prst="rect">
            <a:avLst/>
          </a:prstGeom>
        </p:spPr>
      </p:pic>
      <p:sp>
        <p:nvSpPr>
          <p:cNvPr id="113" name="TextBox 114"/>
          <p:cNvSpPr txBox="1"/>
          <p:nvPr/>
        </p:nvSpPr>
        <p:spPr>
          <a:xfrm>
            <a:off x="7053800" y="5169000"/>
            <a:ext cx="43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ko-KR" altLang="en-US" dirty="0"/>
              <a:t>인터락 배선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en-US" altLang="ko-KR" dirty="0"/>
              <a:t>SDC (Shutdown Circuit) </a:t>
            </a:r>
            <a:r>
              <a:rPr kumimoji="1" lang="ko-KR" altLang="en-US" dirty="0"/>
              <a:t>회로</a:t>
            </a:r>
          </a:p>
        </p:txBody>
      </p:sp>
      <p:pic>
        <p:nvPicPr>
          <p:cNvPr id="116" name="그림 117" descr="SDC 회로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00000"/>
            <a:ext cx="5250000" cy="2852076"/>
          </a:xfrm>
          <a:prstGeom prst="rect">
            <a:avLst/>
          </a:prstGeom>
        </p:spPr>
      </p:pic>
      <p:sp>
        <p:nvSpPr>
          <p:cNvPr id="118" name="TextBox 119"/>
          <p:cNvSpPr txBox="1"/>
          <p:nvPr/>
        </p:nvSpPr>
        <p:spPr>
          <a:xfrm>
            <a:off x="838200" y="5082076"/>
            <a:ext cx="525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ko-KR" altLang="en-US" sz="1600" dirty="0"/>
              <a:t>SDC 회로</a:t>
            </a:r>
            <a:endParaRPr kumimoji="1" lang="ko-KR" altLang="en-US" dirty="0"/>
          </a:p>
        </p:txBody>
      </p:sp>
      <p:sp>
        <p:nvSpPr>
          <p:cNvPr id="120" name="내용 개체 틀 2"/>
          <p:cNvSpPr>
            <a:spLocks noGrp="1"/>
          </p:cNvSpPr>
          <p:nvPr>
            <p:ph idx="1"/>
          </p:nvPr>
        </p:nvSpPr>
        <p:spPr>
          <a:xfrm>
            <a:off x="6450000" y="1950000"/>
            <a:ext cx="4903800" cy="4250000"/>
          </a:xfrm>
        </p:spPr>
        <p:txBody>
          <a:bodyPr/>
          <a:lstStyle/>
          <a:p>
            <a:r>
              <a:rPr kumimoji="1" lang="en-US" altLang="ko-KR" sz="1600" dirty="0"/>
              <a:t>AIR</a:t>
            </a:r>
            <a:r>
              <a:rPr kumimoji="1" lang="ko-KR" altLang="en-US" sz="1600" dirty="0"/>
              <a:t>은 축전지 박스에 </a:t>
            </a:r>
            <a:r>
              <a:rPr kumimoji="1" lang="ko-KR" altLang="en-US" sz="1600" u="sng" dirty="0">
                <a:uFill>
                  <a:solidFill>
                    <a:srgbClr val="FF0000"/>
                  </a:solidFill>
                </a:uFill>
              </a:rPr>
              <a:t>두 개 이상</a:t>
            </a:r>
            <a:r>
              <a:rPr kumimoji="1" lang="ko-KR" altLang="en-US" sz="1600" dirty="0"/>
              <a:t> 장착되어야 함</a:t>
            </a:r>
          </a:p>
          <a:p>
            <a:endParaRPr kumimoji="1" lang="ko-KR" altLang="en-US" sz="800" dirty="0"/>
          </a:p>
          <a:p>
            <a:r>
              <a:rPr kumimoji="1" lang="en-US" altLang="ko-KR" sz="1600" dirty="0"/>
              <a:t>AIR</a:t>
            </a:r>
            <a:r>
              <a:rPr kumimoji="1" lang="ko-KR" altLang="en-US" sz="1600" dirty="0"/>
              <a:t> 및 초기 충전 릴레이는 </a:t>
            </a:r>
            <a:r>
              <a:rPr kumimoji="1" lang="ko-KR" altLang="en-US" sz="1600" dirty="0">
                <a:highlight>
                  <a:srgbClr val="FFFF00"/>
                </a:highlight>
              </a:rPr>
              <a:t>기구적인 상태</a:t>
            </a:r>
            <a:r>
              <a:rPr kumimoji="1" lang="ko-KR" altLang="en-US" sz="1600" dirty="0"/>
              <a:t>를 감지해야 함</a:t>
            </a:r>
          </a:p>
          <a:p>
            <a:endParaRPr kumimoji="1" lang="ko-KR" altLang="en-US" sz="800" dirty="0"/>
          </a:p>
          <a:p>
            <a:pPr lvl="1"/>
            <a:r>
              <a:rPr kumimoji="1" lang="ko-KR" altLang="en-US" sz="1400" dirty="0"/>
              <a:t>릴레이 제어신호는 이용할 수 없음 → Aux 리드 사용</a:t>
            </a:r>
          </a:p>
          <a:p>
            <a:endParaRPr kumimoji="1" lang="ko-KR" altLang="en-US" sz="800" dirty="0"/>
          </a:p>
          <a:p>
            <a:r>
              <a:rPr kumimoji="1" lang="en-US" altLang="ko-KR" sz="1600" dirty="0"/>
              <a:t>AIR</a:t>
            </a:r>
            <a:r>
              <a:rPr kumimoji="1" lang="ko-KR" altLang="en-US" sz="1600" dirty="0"/>
              <a:t> 닫힌 상태에서 구동계 전압 </a:t>
            </a:r>
            <a:r>
              <a:rPr kumimoji="1" lang="en-US" altLang="ko-KR" sz="1600" dirty="0">
                <a:highlight>
                  <a:srgbClr val="FFFF00"/>
                </a:highlight>
              </a:rPr>
              <a:t>60 V DC</a:t>
            </a:r>
            <a:r>
              <a:rPr kumimoji="1" lang="ko-KR" altLang="en-US" sz="1600" dirty="0"/>
              <a:t> 이상이면 적색 LED 점등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ko-KR" altLang="en-US" dirty="0"/>
              <a:t>Pre-charge – 돌입 전류</a:t>
            </a:r>
          </a:p>
        </p:txBody>
      </p:sp>
      <p:sp>
        <p:nvSpPr>
          <p:cNvPr id="122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900000" cy="2500000"/>
          </a:xfrm>
        </p:spPr>
        <p:txBody>
          <a:bodyPr/>
          <a:lstStyle/>
          <a:p>
            <a:r>
              <a:rPr kumimoji="1" lang="ko-KR" altLang="en-US" sz="2000" dirty="0"/>
              <a:t>HV 시스템의 대용량 커패시터가 충전되어 있지 않으면, 축전지를 연결했을 때 순간적으로 </a:t>
            </a:r>
            <a:r>
              <a:rPr kumimoji="1" lang="ko-KR" altLang="en-US" sz="2000" u="sng" dirty="0">
                <a:uFill>
                  <a:solidFill>
                    <a:srgbClr val="FF0000"/>
                  </a:solidFill>
                </a:uFill>
              </a:rPr>
              <a:t>높은 전류</a:t>
            </a:r>
            <a:r>
              <a:rPr kumimoji="1" lang="ko-KR" altLang="en-US" sz="2000" dirty="0"/>
              <a:t>가 흐름</a:t>
            </a:r>
          </a:p>
          <a:p>
            <a:endParaRPr kumimoji="1" lang="ko-KR" altLang="en-US" sz="800" dirty="0"/>
          </a:p>
          <a:p>
            <a:r>
              <a:rPr kumimoji="1" lang="ko-KR" altLang="en-US" sz="2000" dirty="0"/>
              <a:t>이때 </a:t>
            </a:r>
            <a:r>
              <a:rPr kumimoji="1" lang="ko-KR" altLang="en-US" sz="2000" dirty="0">
                <a:highlight>
                  <a:srgbClr val="FFFF00"/>
                </a:highlight>
              </a:rPr>
              <a:t>AIR 접점 및 인버터</a:t>
            </a:r>
            <a:r>
              <a:rPr kumimoji="1" lang="ko-KR" altLang="en-US" sz="2000" dirty="0"/>
              <a:t> 등이 손상될 수 있음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4"/>
              <p:cNvSpPr txBox="1"/>
              <p:nvPr/>
            </p:nvSpPr>
            <p:spPr>
              <a:xfrm>
                <a:off x="838200" y="4600000"/>
                <a:ext cx="5900000" cy="9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ko-KR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0" lang="en-US" altLang="ko-KR" sz="2800" b="0" i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kumimoji="1" lang="en-US" altLang="ko-KR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kumimoji="1" lang="en-US" altLang="ko-KR" sz="2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125" name="TextBox 126"/>
              <p:cNvSpPr txBox="1"/>
              <p:nvPr/>
            </p:nvSpPr>
            <p:spPr>
              <a:xfrm>
                <a:off x="838200" y="4600000"/>
                <a:ext cx="5900000" cy="9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i = C · dv/dt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127" name="TextBox 128"/>
          <p:cNvSpPr txBox="1"/>
          <p:nvPr/>
        </p:nvSpPr>
        <p:spPr>
          <a:xfrm>
            <a:off x="838200" y="5550000"/>
            <a:ext cx="59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ko-KR" altLang="en-US" sz="1400" dirty="0"/>
              <a:t>C = 커패시터 용량</a:t>
            </a:r>
            <a:endParaRPr kumimoji="1" lang="ko-KR" altLang="en-US" dirty="0"/>
          </a:p>
        </p:txBody>
      </p:sp>
      <p:pic>
        <p:nvPicPr>
          <p:cNvPr id="129" name="그림 130" descr="Pre-charge 회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800" y="2500000"/>
            <a:ext cx="4600000" cy="2046216"/>
          </a:xfrm>
          <a:prstGeom prst="rect">
            <a:avLst/>
          </a:prstGeom>
        </p:spPr>
      </p:pic>
      <p:sp>
        <p:nvSpPr>
          <p:cNvPr id="131" name="TextBox 132"/>
          <p:cNvSpPr txBox="1"/>
          <p:nvPr/>
        </p:nvSpPr>
        <p:spPr>
          <a:xfrm>
            <a:off x="6753800" y="4696216"/>
            <a:ext cx="4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ko-KR" altLang="en-US" sz="1600" dirty="0"/>
              <a:t>Pre-charge 회로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ko-KR" altLang="en-US" dirty="0"/>
              <a:t>Pre-charge – 시정수와 충전 곡선</a:t>
            </a:r>
          </a:p>
        </p:txBody>
      </p:sp>
      <p:sp>
        <p:nvSpPr>
          <p:cNvPr id="134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00000"/>
          </a:xfrm>
        </p:spPr>
        <p:txBody>
          <a:bodyPr/>
          <a:lstStyle/>
          <a:p>
            <a:r>
              <a:rPr kumimoji="1" lang="en-US" altLang="ko-KR" sz="2200" dirty="0"/>
              <a:t>dV/dt</a:t>
            </a:r>
            <a:r>
              <a:rPr kumimoji="1" lang="ko-KR" altLang="en-US" sz="2200" dirty="0"/>
              <a:t> 를 낮추기 위해 </a:t>
            </a:r>
            <a:r>
              <a:rPr kumimoji="1" lang="en-US" altLang="ko-KR" sz="2200" dirty="0"/>
              <a:t>Pre-charge</a:t>
            </a:r>
            <a:r>
              <a:rPr kumimoji="1" lang="ko-KR" altLang="en-US" sz="2200" dirty="0"/>
              <a:t> 회로를 이용해 커패시터를 천천히 충전시킴</a:t>
            </a:r>
          </a:p>
          <a:p>
            <a:endParaRPr kumimoji="1" lang="ko-KR" altLang="en-US" sz="800" dirty="0"/>
          </a:p>
          <a:p>
            <a:r>
              <a:rPr kumimoji="1" lang="en-US" altLang="ko-KR" sz="2200" dirty="0"/>
              <a:t>Pre-charge</a:t>
            </a:r>
            <a:r>
              <a:rPr kumimoji="1" lang="ko-KR" altLang="en-US" sz="2200" dirty="0"/>
              <a:t> 릴레이 뒤에 </a:t>
            </a:r>
            <a:r>
              <a:rPr kumimoji="1" lang="ko-KR" altLang="en-US" sz="2200" u="sng" dirty="0">
                <a:uFill>
                  <a:solidFill>
                    <a:srgbClr val="FF0000"/>
                  </a:solidFill>
                </a:uFill>
              </a:rPr>
              <a:t>저항</a:t>
            </a:r>
            <a:r>
              <a:rPr kumimoji="1" lang="ko-KR" altLang="en-US" sz="2200" dirty="0"/>
              <a:t>을 연결해 전류를 낮춰 접점 등을 보호함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6"/>
              <p:cNvSpPr txBox="1"/>
              <p:nvPr/>
            </p:nvSpPr>
            <p:spPr>
              <a:xfrm>
                <a:off x="838200" y="4100000"/>
                <a:ext cx="10515600" cy="10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kumimoji="0" lang="en-US" altLang="ko-KR" sz="3200" b="0" i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0" lang="en-US" altLang="ko-KR" sz="3200" b="0" i="0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137" name="TextBox 138"/>
              <p:cNvSpPr txBox="1"/>
              <p:nvPr/>
            </p:nvSpPr>
            <p:spPr>
              <a:xfrm>
                <a:off x="838200" y="4100000"/>
                <a:ext cx="10515600" cy="10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τ = R × C</a:t>
                </a:r>
                <a:endParaRPr kumimoji="1" lang="ko-KR" altLang="en-US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40"/>
              <p:cNvSpPr txBox="1"/>
              <p:nvPr/>
            </p:nvSpPr>
            <p:spPr>
              <a:xfrm>
                <a:off x="838200" y="5100000"/>
                <a:ext cx="10515600" cy="11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0" lang="en-US" altLang="ko-KR" sz="3200" b="0" i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0" lang="en-US" altLang="ko-KR" sz="3200" b="0" i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kumimoji="0" lang="en-US" altLang="ko-KR" sz="32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ko-KR" sz="3200" b="0" i="0" smtClean="0">
                              <a:latin typeface="Cambria Math" panose="02040503050406030204" pitchFamily="18" charset="0"/>
                            </a:rPr>
                            <m:t>1 − </m:t>
                          </m:r>
                          <m:sSup>
                            <m:sSupPr>
                              <m:ctrlPr>
                                <a:rPr kumimoji="1"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3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altLang="ko-KR" sz="32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ko-K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r>
                                    <a:rPr kumimoji="1"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141" name="TextBox 142"/>
              <p:cNvSpPr txBox="1"/>
              <p:nvPr/>
            </p:nvSpPr>
            <p:spPr>
              <a:xfrm>
                <a:off x="838200" y="5100000"/>
                <a:ext cx="10515600" cy="11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v(t) = Vs (1 − e^(−t/τ))</a:t>
                </a:r>
                <a:endParaRPr kumimoji="1" lang="ko-KR" altLang="en-US" dirty="0"/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ko-KR" altLang="en-US" dirty="0"/>
              <a:t>Pre-charge – 계산 예시</a:t>
            </a:r>
          </a:p>
        </p:txBody>
      </p:sp>
      <p:sp>
        <p:nvSpPr>
          <p:cNvPr id="144" name="TextBox 145"/>
          <p:cNvSpPr txBox="1"/>
          <p:nvPr/>
        </p:nvSpPr>
        <p:spPr>
          <a:xfrm>
            <a:off x="838200" y="1900000"/>
            <a:ext cx="6000000" cy="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1" lang="ko-KR" altLang="en-US" sz="1600" dirty="0"/>
              <a:t>1초 이내 </a:t>
            </a:r>
            <a:r>
              <a:rPr kumimoji="1" lang="en-US" altLang="ko-KR" sz="1600" b="1" dirty="0"/>
              <a:t>1000 μF, 800 V</a:t>
            </a:r>
            <a:r>
              <a:rPr kumimoji="1" lang="ko-KR" altLang="en-US" sz="1600" dirty="0"/>
              <a:t> HV 배터리 전압의 </a:t>
            </a:r>
            <a:r>
              <a:rPr kumimoji="1" lang="en-US" altLang="ko-KR" sz="1600" b="1" dirty="0"/>
              <a:t>90 %</a:t>
            </a:r>
            <a:r>
              <a:rPr kumimoji="1" lang="ko-KR" altLang="en-US" sz="1600" dirty="0"/>
              <a:t>가 목표라면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7"/>
              <p:cNvSpPr txBox="1"/>
              <p:nvPr/>
            </p:nvSpPr>
            <p:spPr>
              <a:xfrm>
                <a:off x="838200" y="2750000"/>
                <a:ext cx="6000000" cy="8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0.9 × 800 = 800</m:t>
                      </m:r>
                      <m:d>
                        <m:dPr>
                          <m:ctrlPr>
                            <a:rPr kumimoji="0" lang="en-US" altLang="ko-KR" sz="20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ko-KR" sz="2000" b="0" i="0" smtClean="0">
                              <a:latin typeface="Cambria Math" panose="02040503050406030204" pitchFamily="18" charset="0"/>
                            </a:rPr>
                            <m:t>1 − 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altLang="ko-KR" sz="20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altLang="ko-KR" sz="20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ko-KR" sz="20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 ≈ 0.434</m:t>
                      </m:r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148" name="TextBox 149"/>
              <p:cNvSpPr txBox="1"/>
              <p:nvPr/>
            </p:nvSpPr>
            <p:spPr>
              <a:xfrm>
                <a:off x="838200" y="2750000"/>
                <a:ext cx="6000000" cy="8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0.9 × 800 = 800(1 − e^(−1/τ))  →  τ ≈ 0.434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150" name="강조 151"/>
          <p:cNvSpPr/>
          <p:nvPr/>
        </p:nvSpPr>
        <p:spPr>
          <a:xfrm>
            <a:off x="1138200" y="3650000"/>
            <a:ext cx="5400000" cy="7800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0000"/>
            </a:solidFill>
          </a:ln>
        </p:spPr>
        <p:txBody>
          <a:bodyPr/>
          <a:lstStyle/>
          <a:p>
            <a:endParaRPr lang="ko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3"/>
              <p:cNvSpPr txBox="1"/>
              <p:nvPr/>
            </p:nvSpPr>
            <p:spPr>
              <a:xfrm>
                <a:off x="1138200" y="3780000"/>
                <a:ext cx="5400000" cy="6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0.434 = 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 × 1000 </m:t>
                      </m:r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 ≈ 434 </m:t>
                      </m:r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𝛺</m:t>
                      </m:r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154" name="TextBox 155"/>
              <p:cNvSpPr txBox="1"/>
              <p:nvPr/>
            </p:nvSpPr>
            <p:spPr>
              <a:xfrm>
                <a:off x="1138200" y="3780000"/>
                <a:ext cx="5400000" cy="6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0.434 = R × 1000 μF  →  R ≈ 434 Ω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156" name="TextBox 157"/>
          <p:cNvSpPr txBox="1"/>
          <p:nvPr/>
        </p:nvSpPr>
        <p:spPr>
          <a:xfrm>
            <a:off x="838200" y="4700000"/>
            <a:ext cx="60000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1" lang="en-US" altLang="ko-KR" sz="1600" b="1" dirty="0"/>
              <a:t>434 Ω</a:t>
            </a:r>
            <a:r>
              <a:rPr kumimoji="1" lang="ko-KR" altLang="en-US" sz="1600" dirty="0"/>
              <a:t> 의 저항을 사용</a:t>
            </a:r>
          </a:p>
          <a:p>
            <a:pPr marL="0" indent="0">
              <a:buNone/>
            </a:pPr>
            <a:r>
              <a:rPr kumimoji="1" lang="ko-KR" altLang="en-US" sz="1600" dirty="0"/>
              <a:t>그래프에서, 저항이 낮을수록 1초 동안 전압이 더 많이 상승함</a:t>
            </a:r>
          </a:p>
        </p:txBody>
      </p:sp>
      <p:pic>
        <p:nvPicPr>
          <p:cNvPr id="158" name="그림 159" descr="저항에 따른 1초 후 전압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800" y="1900000"/>
            <a:ext cx="4300000" cy="3364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61"/>
              <p:cNvSpPr txBox="1"/>
              <p:nvPr/>
            </p:nvSpPr>
            <p:spPr>
              <a:xfrm>
                <a:off x="7053800" y="5344285"/>
                <a:ext cx="4300000" cy="7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ko-KR" sz="1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3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en-US" altLang="ko-KR" sz="13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3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kumimoji="0" lang="en-US" altLang="ko-KR" sz="1300" b="0" i="0" smtClean="0">
                          <a:latin typeface="Cambria Math" panose="02040503050406030204" pitchFamily="18" charset="0"/>
                        </a:rPr>
                        <m:t> = 800</m:t>
                      </m:r>
                      <m:d>
                        <m:dPr>
                          <m:ctrlPr>
                            <a:rPr kumimoji="0" lang="en-US" altLang="ko-KR" sz="13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en-US" altLang="ko-KR" sz="1300" b="0" i="0" smtClean="0">
                              <a:latin typeface="Cambria Math" panose="02040503050406030204" pitchFamily="18" charset="0"/>
                            </a:rPr>
                            <m:t>1 − </m:t>
                          </m:r>
                          <m:sSup>
                            <m:sSupPr>
                              <m:ctrlPr>
                                <a:rPr kumimoji="1" lang="en-US" altLang="ko-KR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13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0" lang="en-US" altLang="ko-KR" sz="13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0" lang="en-US" altLang="ko-KR" sz="13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ko-KR" sz="1300" b="0" i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ko-KR" sz="13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  <m:r>
                                    <a:rPr kumimoji="0" lang="en-US" altLang="ko-KR" sz="1300" b="0" i="0" smtClean="0">
                                      <a:latin typeface="Cambria Math" panose="02040503050406030204" pitchFamily="18" charset="0"/>
                                    </a:rPr>
                                    <m:t> × 0.001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kumimoji="1" lang="en-US" altLang="ko-KR" dirty="0"/>
              </a:p>
              <a:p>
                <a:pPr marL="0" indent="0" algn="ctr">
                  <a:buNone/>
                </a:pPr>
                <a:r>
                  <a:rPr kumimoji="1" lang="ko-KR" altLang="en-US" sz="1200" dirty="0"/>
                  <a:t>저항 변화에 따른 1초 후 HV 시스템 전압</a:t>
                </a:r>
                <a:endParaRPr kumimoji="1" lang="ko-KR" altLang="en-US" dirty="0"/>
              </a:p>
            </p:txBody>
          </p:sp>
        </mc:Choice>
        <mc:Fallback xmlns="">
          <p:sp>
            <p:nvSpPr>
              <p:cNvPr id="162" name="TextBox 163"/>
              <p:cNvSpPr txBox="1"/>
              <p:nvPr/>
            </p:nvSpPr>
            <p:spPr>
              <a:xfrm>
                <a:off x="7053800" y="5344285"/>
                <a:ext cx="4300000" cy="7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v₁(R) = 800(1 − e^(−1/(R × 0.001)))</a:t>
                </a:r>
                <a:endParaRPr kumimoji="1" lang="ko-KR" altLang="en-US" dirty="0"/>
              </a:p>
              <a:p>
                <a:pPr marL="0" indent="0" algn="ctr">
                  <a:buNone/>
                </a:pPr>
                <a:r>
                  <a:rPr kumimoji="1" lang="ko-KR" altLang="en-US" sz="2000" dirty="0">
                    <a:latin typeface="Cambria Math"/>
                  </a:rPr>
                  <a:t>저항 변화에 따른 1초 후 HV 시스템 전압</a:t>
                </a:r>
                <a:endParaRPr kumimoji="1" lang="ko-KR" altLang="en-US" dirty="0"/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ko-KR" altLang="en-US" dirty="0"/>
              <a:t>Pre-charge 관련 규정</a:t>
            </a:r>
          </a:p>
        </p:txBody>
      </p:sp>
      <p:sp>
        <p:nvSpPr>
          <p:cNvPr id="165" name="내용 개체 틀 2"/>
          <p:cNvSpPr>
            <a:spLocks noGrp="1"/>
          </p:cNvSpPr>
          <p:nvPr>
            <p:ph idx="1"/>
          </p:nvPr>
        </p:nvSpPr>
        <p:spPr>
          <a:xfrm>
            <a:off x="838200" y="1950000"/>
            <a:ext cx="10515600" cy="4351338"/>
          </a:xfrm>
        </p:spPr>
        <p:txBody>
          <a:bodyPr/>
          <a:lstStyle/>
          <a:p>
            <a:r>
              <a:rPr kumimoji="1" lang="ko-KR" altLang="en-US" sz="2000" dirty="0"/>
              <a:t>HV 릴레이(AIR) 2개가 모두 연결되기 전 </a:t>
            </a:r>
            <a:r>
              <a:rPr kumimoji="1" lang="ko-KR" altLang="en-US" sz="2000" u="sng" dirty="0">
                <a:uFill>
                  <a:solidFill>
                    <a:srgbClr val="FF0000"/>
                  </a:solidFill>
                </a:uFill>
              </a:rPr>
              <a:t>1초 이상</a:t>
            </a:r>
            <a:r>
              <a:rPr kumimoji="1" lang="ko-KR" altLang="en-US" sz="2000" dirty="0"/>
              <a:t> 구동시스템을 초기충전하여야 함</a:t>
            </a:r>
          </a:p>
          <a:p>
            <a:endParaRPr kumimoji="1" lang="ko-KR" altLang="en-US" sz="800" dirty="0"/>
          </a:p>
          <a:p>
            <a:r>
              <a:rPr kumimoji="1" lang="en-US" altLang="ko-KR" sz="2000" dirty="0"/>
              <a:t>AIR</a:t>
            </a:r>
            <a:r>
              <a:rPr kumimoji="1" lang="ko-KR" altLang="en-US" sz="2000" dirty="0"/>
              <a:t>가 닫힌 경우 초기충전회로는 중단되어야 함</a:t>
            </a:r>
          </a:p>
          <a:p>
            <a:endParaRPr kumimoji="1" lang="ko-KR" altLang="en-US" sz="800" dirty="0"/>
          </a:p>
          <a:p>
            <a:r>
              <a:rPr kumimoji="1" lang="ko-KR" altLang="en-US" sz="2000" dirty="0"/>
              <a:t>차단회로가 개방된 경우에 초기충전회로가 </a:t>
            </a:r>
            <a:r>
              <a:rPr kumimoji="1" lang="ko-KR" altLang="en-US" sz="2000" dirty="0">
                <a:highlight>
                  <a:srgbClr val="FFFF00"/>
                </a:highlight>
              </a:rPr>
              <a:t>작동하면 안 됨</a:t>
            </a:r>
            <a:endParaRPr kumimoji="1" lang="ko-KR" altLang="en-US" sz="2000" dirty="0"/>
          </a:p>
          <a:p>
            <a:endParaRPr kumimoji="1" lang="ko-KR" altLang="en-US" sz="800" dirty="0"/>
          </a:p>
          <a:p>
            <a:r>
              <a:rPr kumimoji="1" lang="ko-KR" altLang="en-US" sz="2000" dirty="0"/>
              <a:t>초기충전회로의 전원은 </a:t>
            </a:r>
            <a:r>
              <a:rPr kumimoji="1" lang="ko-KR" altLang="en-US" sz="2000" u="sng" dirty="0">
                <a:uFill>
                  <a:solidFill>
                    <a:srgbClr val="FF0000"/>
                  </a:solidFill>
                </a:uFill>
              </a:rPr>
              <a:t>HV 비상정지스위치</a:t>
            </a:r>
            <a:r>
              <a:rPr kumimoji="1" lang="ko-KR" altLang="en-US" sz="2000" dirty="0"/>
              <a:t>에서 직접 공급되어야 함</a:t>
            </a:r>
          </a:p>
          <a:p>
            <a:endParaRPr kumimoji="1" lang="ko-KR" altLang="en-US" sz="800" dirty="0"/>
          </a:p>
          <a:p>
            <a:pPr lvl="1"/>
            <a:r>
              <a:rPr kumimoji="1" lang="ko-KR" altLang="en-US" sz="1800" dirty="0"/>
              <a:t>AIR 코일처럼 SDC에 연결되어야 한다는 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en-US" altLang="ko-KR" dirty="0"/>
              <a:t>Discharge Circuit</a:t>
            </a:r>
            <a:endParaRPr kumimoji="1" lang="ko-KR" altLang="en-US" dirty="0"/>
          </a:p>
        </p:txBody>
      </p:sp>
      <p:sp>
        <p:nvSpPr>
          <p:cNvPr id="167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900000" cy="4351338"/>
          </a:xfrm>
        </p:spPr>
        <p:txBody>
          <a:bodyPr/>
          <a:lstStyle/>
          <a:p>
            <a:r>
              <a:rPr kumimoji="1" lang="en-US" altLang="ko-KR" sz="2000" dirty="0"/>
              <a:t>AIR</a:t>
            </a:r>
            <a:r>
              <a:rPr kumimoji="1" lang="ko-KR" altLang="en-US" sz="2000" dirty="0"/>
              <a:t>을 열었을 때도 HV 시스템에 높은 전압이 남아 있음</a:t>
            </a:r>
          </a:p>
          <a:p>
            <a:endParaRPr kumimoji="1" lang="ko-KR" altLang="en-US" sz="800" dirty="0"/>
          </a:p>
          <a:p>
            <a:r>
              <a:rPr kumimoji="1" lang="ko-KR" altLang="en-US" sz="2000" dirty="0"/>
              <a:t>안전을 위해 남은 전하를 </a:t>
            </a:r>
            <a:r>
              <a:rPr kumimoji="1" lang="ko-KR" altLang="en-US" sz="2000" u="sng" dirty="0">
                <a:uFill>
                  <a:solidFill>
                    <a:srgbClr val="FF0000"/>
                  </a:solidFill>
                </a:uFill>
              </a:rPr>
              <a:t>빠르게 태워 버리는 회로</a:t>
            </a:r>
            <a:endParaRPr kumimoji="1" lang="ko-KR" altLang="en-US" sz="2000" dirty="0"/>
          </a:p>
          <a:p>
            <a:endParaRPr kumimoji="1" lang="ko-KR" altLang="en-US" sz="800" dirty="0"/>
          </a:p>
          <a:p>
            <a:r>
              <a:rPr kumimoji="1" lang="en-US" altLang="ko-KR" sz="2000" dirty="0"/>
              <a:t>Passive</a:t>
            </a:r>
            <a:r>
              <a:rPr kumimoji="1" lang="ko-KR" altLang="en-US" sz="2000" dirty="0"/>
              <a:t> 방식과 </a:t>
            </a:r>
            <a:r>
              <a:rPr kumimoji="1" lang="en-US" altLang="ko-KR" sz="2000" dirty="0"/>
              <a:t>Active</a:t>
            </a:r>
            <a:r>
              <a:rPr kumimoji="1" lang="ko-KR" altLang="en-US" sz="2000" dirty="0"/>
              <a:t> 방식이 있음</a:t>
            </a:r>
          </a:p>
        </p:txBody>
      </p:sp>
      <p:pic>
        <p:nvPicPr>
          <p:cNvPr id="168" name="그림 169" descr="Pre-charge / Discharge 회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800" y="2150000"/>
            <a:ext cx="4400000" cy="2814384"/>
          </a:xfrm>
          <a:prstGeom prst="rect">
            <a:avLst/>
          </a:prstGeom>
        </p:spPr>
      </p:pic>
      <p:sp>
        <p:nvSpPr>
          <p:cNvPr id="170" name="TextBox 171"/>
          <p:cNvSpPr txBox="1"/>
          <p:nvPr/>
        </p:nvSpPr>
        <p:spPr>
          <a:xfrm>
            <a:off x="6953800" y="5114384"/>
            <a:ext cx="4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ko-KR" altLang="en-US" sz="1600" dirty="0"/>
              <a:t>Pre-charge / Discharge 회로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제목 1"/>
          <p:cNvSpPr>
            <a:spLocks noGrp="1"/>
          </p:cNvSpPr>
          <p:nvPr>
            <p:ph type="title"/>
          </p:nvPr>
        </p:nvSpPr>
        <p:spPr>
          <a:xfrm>
            <a:off x="839788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en-US" altLang="ko-KR" dirty="0"/>
              <a:t>Discharge – Passive vs Active</a:t>
            </a:r>
            <a:endParaRPr kumimoji="1" lang="ko-KR" altLang="en-US" dirty="0"/>
          </a:p>
        </p:txBody>
      </p:sp>
      <p:sp>
        <p:nvSpPr>
          <p:cNvPr id="17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800000"/>
            <a:ext cx="5157787" cy="6200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ko-KR" sz="2400" b="1" dirty="0">
                <a:solidFill>
                  <a:srgbClr val="156082"/>
                </a:solidFill>
              </a:rPr>
              <a:t>Passive 방식</a:t>
            </a:r>
            <a:endParaRPr kumimoji="1" lang="ko-KR" altLang="en-US" dirty="0"/>
          </a:p>
        </p:txBody>
      </p:sp>
      <p:sp>
        <p:nvSpPr>
          <p:cNvPr id="174" name="내용 개체 틀 3"/>
          <p:cNvSpPr>
            <a:spLocks noGrp="1"/>
          </p:cNvSpPr>
          <p:nvPr>
            <p:ph idx="2"/>
          </p:nvPr>
        </p:nvSpPr>
        <p:spPr>
          <a:xfrm>
            <a:off x="839788" y="2480000"/>
            <a:ext cx="5157787" cy="3700000"/>
          </a:xfrm>
        </p:spPr>
        <p:txBody>
          <a:bodyPr/>
          <a:lstStyle/>
          <a:p>
            <a:r>
              <a:rPr kumimoji="1" lang="ko-KR" altLang="en-US" sz="1800" u="sng" dirty="0">
                <a:uFill>
                  <a:solidFill>
                    <a:srgbClr val="FF0000"/>
                  </a:solidFill>
                </a:uFill>
              </a:rPr>
              <a:t>고저항</a:t>
            </a:r>
            <a:r>
              <a:rPr kumimoji="1" lang="ko-KR" altLang="en-US" sz="1800" dirty="0"/>
              <a:t>을 이용해 항상 일정량 방전</a:t>
            </a:r>
          </a:p>
          <a:p>
            <a:endParaRPr kumimoji="1" lang="ko-KR" altLang="en-US" sz="800" dirty="0"/>
          </a:p>
          <a:p>
            <a:r>
              <a:rPr kumimoji="1" lang="ko-KR" altLang="en-US" sz="1800" dirty="0"/>
              <a:t>별도의 제어가 필요 없음</a:t>
            </a:r>
          </a:p>
          <a:p>
            <a:endParaRPr kumimoji="1" lang="ko-KR" altLang="en-US" sz="800" dirty="0"/>
          </a:p>
          <a:p>
            <a:r>
              <a:rPr kumimoji="1" lang="ko-KR" altLang="en-US" sz="1800" dirty="0"/>
              <a:t>주행 중에도 항상 일부분이 타버림</a:t>
            </a:r>
          </a:p>
          <a:p>
            <a:endParaRPr kumimoji="1" lang="ko-KR" altLang="en-US" sz="800" dirty="0"/>
          </a:p>
          <a:p>
            <a:r>
              <a:rPr kumimoji="1" lang="ko-KR" altLang="en-US" sz="1800" dirty="0"/>
              <a:t>방전율을 높이면 주행 중 에너지를 많이 태워버림</a:t>
            </a:r>
          </a:p>
        </p:txBody>
      </p:sp>
      <p:sp>
        <p:nvSpPr>
          <p:cNvPr id="175" name="텍스트 개체 틀 4"/>
          <p:cNvSpPr>
            <a:spLocks noGrp="1"/>
          </p:cNvSpPr>
          <p:nvPr>
            <p:ph type="body" idx="3"/>
          </p:nvPr>
        </p:nvSpPr>
        <p:spPr>
          <a:xfrm>
            <a:off x="6172200" y="1800000"/>
            <a:ext cx="5183188" cy="6200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ko-KR" sz="2400" b="1" dirty="0">
                <a:solidFill>
                  <a:srgbClr val="E97132"/>
                </a:solidFill>
              </a:rPr>
              <a:t>Active 방식</a:t>
            </a:r>
            <a:endParaRPr kumimoji="1" lang="ko-KR" altLang="en-US" dirty="0"/>
          </a:p>
        </p:txBody>
      </p:sp>
      <p:sp>
        <p:nvSpPr>
          <p:cNvPr id="176" name="내용 개체 틀 5"/>
          <p:cNvSpPr>
            <a:spLocks noGrp="1"/>
          </p:cNvSpPr>
          <p:nvPr>
            <p:ph idx="4"/>
          </p:nvPr>
        </p:nvSpPr>
        <p:spPr>
          <a:xfrm>
            <a:off x="6172200" y="2480000"/>
            <a:ext cx="5183188" cy="3700000"/>
          </a:xfrm>
        </p:spPr>
        <p:txBody>
          <a:bodyPr/>
          <a:lstStyle/>
          <a:p>
            <a:r>
              <a:rPr kumimoji="1" lang="ko-KR" altLang="en-US" sz="1800" dirty="0"/>
              <a:t>릴레이 등을 이용해 </a:t>
            </a:r>
            <a:r>
              <a:rPr kumimoji="1" lang="ko-KR" altLang="en-US" sz="1800" u="sng" dirty="0">
                <a:uFill>
                  <a:solidFill>
                    <a:srgbClr val="FF0000"/>
                  </a:solidFill>
                </a:uFill>
              </a:rPr>
              <a:t>AIR가 열렸을 때 방전</a:t>
            </a:r>
            <a:endParaRPr kumimoji="1" lang="ko-KR" altLang="en-US" sz="1800" dirty="0"/>
          </a:p>
          <a:p>
            <a:endParaRPr kumimoji="1" lang="ko-KR" altLang="en-US" sz="800" dirty="0"/>
          </a:p>
          <a:p>
            <a:r>
              <a:rPr kumimoji="1" lang="en-US" altLang="ko-KR" sz="1800" dirty="0"/>
              <a:t>Normally Closed</a:t>
            </a:r>
            <a:r>
              <a:rPr kumimoji="1" lang="ko-KR" altLang="en-US" sz="1800" dirty="0"/>
              <a:t> 릴레이 → SDC 전원이 끊기면 자동으로 닫혀 방전 시작</a:t>
            </a:r>
          </a:p>
          <a:p>
            <a:endParaRPr kumimoji="1" lang="ko-KR" altLang="en-US" sz="800" dirty="0"/>
          </a:p>
          <a:p>
            <a:r>
              <a:rPr kumimoji="1" lang="ko-KR" altLang="en-US" sz="1800" dirty="0"/>
              <a:t>HV 시스템에 상시 연결되어 있지 않음</a:t>
            </a:r>
          </a:p>
          <a:p>
            <a:endParaRPr kumimoji="1" lang="ko-KR" altLang="en-US" sz="800" dirty="0"/>
          </a:p>
          <a:p>
            <a:r>
              <a:rPr kumimoji="1" lang="ko-KR" altLang="en-US" sz="1800" dirty="0">
                <a:highlight>
                  <a:srgbClr val="FFFF00"/>
                </a:highlight>
              </a:rPr>
              <a:t>저저항</a:t>
            </a:r>
            <a:r>
              <a:rPr kumimoji="1" lang="ko-KR" altLang="en-US" sz="1800" dirty="0"/>
              <a:t>을 사용해 급속도로 방전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ko-KR" altLang="en-US" dirty="0"/>
              <a:t>Discharge – 방전 곡선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Box 179"/>
              <p:cNvSpPr txBox="1"/>
              <p:nvPr/>
            </p:nvSpPr>
            <p:spPr>
              <a:xfrm>
                <a:off x="838200" y="1950000"/>
                <a:ext cx="5100000" cy="8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0" lang="en-US" altLang="ko-KR" sz="2400" b="0" i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0" lang="en-US" altLang="ko-KR" sz="240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0" lang="en-US" altLang="ko-KR" sz="2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180" name="TextBox 181"/>
              <p:cNvSpPr txBox="1"/>
              <p:nvPr/>
            </p:nvSpPr>
            <p:spPr>
              <a:xfrm>
                <a:off x="838200" y="1950000"/>
                <a:ext cx="5100000" cy="8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V(t) = V₀ e^(−t/RC)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182" name="TextBox 183"/>
          <p:cNvSpPr txBox="1"/>
          <p:nvPr/>
        </p:nvSpPr>
        <p:spPr>
          <a:xfrm>
            <a:off x="838200" y="2760000"/>
            <a:ext cx="5100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ko-KR" altLang="en-US" sz="1200" dirty="0"/>
              <a:t>커패시터의 방전 곡선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5"/>
              <p:cNvSpPr txBox="1"/>
              <p:nvPr/>
            </p:nvSpPr>
            <p:spPr>
              <a:xfrm>
                <a:off x="838200" y="3400000"/>
                <a:ext cx="5100000" cy="8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186" name="TextBox 187"/>
              <p:cNvSpPr txBox="1"/>
              <p:nvPr/>
            </p:nvSpPr>
            <p:spPr>
              <a:xfrm>
                <a:off x="838200" y="3400000"/>
                <a:ext cx="5100000" cy="8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I(t) = V(t) / R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188" name="TextBox 189"/>
          <p:cNvSpPr txBox="1"/>
          <p:nvPr/>
        </p:nvSpPr>
        <p:spPr>
          <a:xfrm>
            <a:off x="838200" y="4210000"/>
            <a:ext cx="5100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ko-KR" altLang="en-US" sz="1200" dirty="0"/>
              <a:t>옴의 법칙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91"/>
              <p:cNvSpPr txBox="1"/>
              <p:nvPr/>
            </p:nvSpPr>
            <p:spPr>
              <a:xfrm>
                <a:off x="838200" y="4800000"/>
                <a:ext cx="5100000" cy="8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kumimoji="0" lang="en-US" altLang="ko-KR" sz="2000" b="0" i="0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d>
                                    <m:dPr>
                                      <m:ctrlPr>
                                        <a:rPr kumimoji="1"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0" lang="en-US" altLang="ko-KR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192" name="TextBox 193"/>
              <p:cNvSpPr txBox="1"/>
              <p:nvPr/>
            </p:nvSpPr>
            <p:spPr>
              <a:xfrm>
                <a:off x="838200" y="4800000"/>
                <a:ext cx="5100000" cy="8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P(t) = V(t)² / R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194" name="TextBox 195"/>
          <p:cNvSpPr txBox="1"/>
          <p:nvPr/>
        </p:nvSpPr>
        <p:spPr>
          <a:xfrm>
            <a:off x="838200" y="5610000"/>
            <a:ext cx="5100000" cy="3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ko-KR" altLang="en-US" sz="1200" dirty="0"/>
              <a:t>전력</a:t>
            </a:r>
            <a:endParaRPr kumimoji="1" lang="ko-KR" altLang="en-US" dirty="0"/>
          </a:p>
        </p:txBody>
      </p:sp>
      <p:sp>
        <p:nvSpPr>
          <p:cNvPr id="196" name="내용 개체 틀 2"/>
          <p:cNvSpPr>
            <a:spLocks noGrp="1"/>
          </p:cNvSpPr>
          <p:nvPr>
            <p:ph idx="1"/>
          </p:nvPr>
        </p:nvSpPr>
        <p:spPr>
          <a:xfrm>
            <a:off x="6250000" y="1900000"/>
            <a:ext cx="5103800" cy="4300000"/>
          </a:xfrm>
        </p:spPr>
        <p:txBody>
          <a:bodyPr/>
          <a:lstStyle/>
          <a:p>
            <a:r>
              <a:rPr kumimoji="1" lang="ko-KR" altLang="en-US" sz="1600" dirty="0"/>
              <a:t>커패시터 용량 </a:t>
            </a:r>
            <a:r>
              <a:rPr kumimoji="1" lang="en-US" altLang="ko-KR" sz="1600" dirty="0"/>
              <a:t>C</a:t>
            </a:r>
            <a:r>
              <a:rPr kumimoji="1" lang="ko-KR" altLang="en-US" sz="1600" dirty="0"/>
              <a:t>는 고정 → 방전 회로 설계 시 </a:t>
            </a:r>
            <a:r>
              <a:rPr kumimoji="1" lang="ko-KR" altLang="en-US" sz="1600" u="sng" dirty="0">
                <a:uFill>
                  <a:solidFill>
                    <a:srgbClr val="FF0000"/>
                  </a:solidFill>
                </a:uFill>
              </a:rPr>
              <a:t>저항 R을 조정</a:t>
            </a:r>
            <a:r>
              <a:rPr kumimoji="1" lang="ko-KR" altLang="en-US" sz="1600" dirty="0"/>
              <a:t>하여 방전 속도를 조절</a:t>
            </a:r>
          </a:p>
          <a:p>
            <a:endParaRPr kumimoji="1" lang="ko-KR" altLang="en-US" sz="800" dirty="0"/>
          </a:p>
          <a:p>
            <a:r>
              <a:rPr kumimoji="1" lang="en-US" altLang="ko-KR" sz="1600" dirty="0"/>
              <a:t>R</a:t>
            </a:r>
            <a:r>
              <a:rPr kumimoji="1" lang="ko-KR" altLang="en-US" sz="1600" dirty="0"/>
              <a:t>이 작으면 </a:t>
            </a:r>
            <a:r>
              <a:rPr kumimoji="1" lang="en-US" altLang="ko-KR" sz="1600" dirty="0"/>
              <a:t>t/RC</a:t>
            </a:r>
            <a:r>
              <a:rPr kumimoji="1" lang="ko-KR" altLang="en-US" sz="1600" dirty="0"/>
              <a:t>가 시간에 따라 빠르게 커져 전압이 빠르게 하강</a:t>
            </a:r>
          </a:p>
          <a:p>
            <a:endParaRPr kumimoji="1" lang="ko-KR" altLang="en-US" sz="800" dirty="0"/>
          </a:p>
          <a:p>
            <a:r>
              <a:rPr kumimoji="1" lang="en-US" altLang="ko-KR" sz="1600" dirty="0"/>
              <a:t>R</a:t>
            </a:r>
            <a:r>
              <a:rPr kumimoji="1" lang="ko-KR" altLang="en-US" sz="1600" dirty="0"/>
              <a:t>이 작을수록 전류가 커져 전하를 빠르게 비우고, 짧은 시간에 많은 에너지를 소모</a:t>
            </a:r>
          </a:p>
          <a:p>
            <a:endParaRPr kumimoji="1" lang="ko-KR" altLang="en-US" sz="800" dirty="0"/>
          </a:p>
          <a:p>
            <a:r>
              <a:rPr kumimoji="1" lang="ko-KR" altLang="en-US" sz="1600" dirty="0"/>
              <a:t>대량의 </a:t>
            </a:r>
            <a:r>
              <a:rPr kumimoji="1" lang="ko-KR" altLang="en-US" sz="1600" dirty="0">
                <a:highlight>
                  <a:srgbClr val="FFFF00"/>
                </a:highlight>
              </a:rPr>
              <a:t>열</a:t>
            </a:r>
            <a:r>
              <a:rPr kumimoji="1" lang="ko-KR" altLang="en-US" sz="1600" dirty="0"/>
              <a:t>이 발생 → 대전력을 견딜 수 있는 저항을 선택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ko-KR" altLang="en-US" dirty="0"/>
              <a:t>Discharge – 계산 예시</a:t>
            </a:r>
          </a:p>
        </p:txBody>
      </p:sp>
      <p:sp>
        <p:nvSpPr>
          <p:cNvPr id="198" name="TextBox 199"/>
          <p:cNvSpPr txBox="1"/>
          <p:nvPr/>
        </p:nvSpPr>
        <p:spPr>
          <a:xfrm>
            <a:off x="838200" y="1880000"/>
            <a:ext cx="6100000" cy="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1" lang="ko-KR" altLang="en-US" sz="1600" dirty="0"/>
              <a:t>커패시터 용량 </a:t>
            </a:r>
            <a:r>
              <a:rPr kumimoji="1" lang="en-US" altLang="ko-KR" sz="1600" b="1" dirty="0"/>
              <a:t>500 μF</a:t>
            </a:r>
            <a:r>
              <a:rPr kumimoji="1" lang="en-US" altLang="ko-KR" sz="1600" dirty="0"/>
              <a:t>, </a:t>
            </a:r>
            <a:r>
              <a:rPr kumimoji="1" lang="en-US" altLang="ko-KR" sz="1600" b="1" dirty="0"/>
              <a:t>800 V</a:t>
            </a:r>
            <a:r>
              <a:rPr kumimoji="1" lang="ko-KR" altLang="en-US" sz="1600" dirty="0"/>
              <a:t> 회로를 </a:t>
            </a:r>
            <a:r>
              <a:rPr kumimoji="1" lang="ko-KR" altLang="en-US" sz="1600" b="1" dirty="0"/>
              <a:t>5초</a:t>
            </a:r>
            <a:r>
              <a:rPr kumimoji="1" lang="ko-KR" altLang="en-US" sz="1600" dirty="0"/>
              <a:t> 이내로 </a:t>
            </a:r>
            <a:r>
              <a:rPr kumimoji="1" lang="en-US" altLang="ko-KR" sz="1600" b="1" dirty="0"/>
              <a:t>60 V</a:t>
            </a:r>
            <a:r>
              <a:rPr kumimoji="1" lang="ko-KR" altLang="en-US" sz="1600" dirty="0"/>
              <a:t>로 떨어뜨리는 경우</a:t>
            </a:r>
          </a:p>
        </p:txBody>
      </p:sp>
      <p:sp>
        <p:nvSpPr>
          <p:cNvPr id="200" name="강조 201"/>
          <p:cNvSpPr/>
          <p:nvPr/>
        </p:nvSpPr>
        <p:spPr>
          <a:xfrm>
            <a:off x="988200" y="2700000"/>
            <a:ext cx="5800000" cy="80000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F0000"/>
            </a:solidFill>
          </a:ln>
        </p:spPr>
        <p:txBody>
          <a:bodyPr/>
          <a:lstStyle/>
          <a:p>
            <a:endParaRPr lang="ko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3"/>
              <p:cNvSpPr txBox="1"/>
              <p:nvPr/>
            </p:nvSpPr>
            <p:spPr>
              <a:xfrm>
                <a:off x="988200" y="2840000"/>
                <a:ext cx="5800000" cy="6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0" lang="en-US" altLang="ko-KR" sz="1800" b="0" i="0" smtClean="0">
                          <a:latin typeface="Cambria Math" panose="02040503050406030204" pitchFamily="18" charset="0"/>
                        </a:rPr>
                        <m:t>60 = 800</m:t>
                      </m:r>
                      <m:sSup>
                        <m:sSup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0" lang="en-US" altLang="ko-KR" sz="1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en-US" altLang="ko-KR" sz="1800" b="0" i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0" lang="en-US" altLang="ko-KR" sz="18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kumimoji="1" lang="en-US" altLang="ko-KR" sz="1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kumimoji="0" lang="en-US" altLang="ko-KR" sz="1800" b="0" i="0" smtClean="0">
                                  <a:latin typeface="Cambria Math" panose="02040503050406030204" pitchFamily="18" charset="0"/>
                                </a:rPr>
                                <m:t> × 0.0005</m:t>
                              </m:r>
                            </m:den>
                          </m:f>
                        </m:sup>
                      </m:sSup>
                      <m:r>
                        <a:rPr kumimoji="0" lang="en-US" altLang="ko-KR" sz="1800" b="0" i="0" smtClean="0">
                          <a:latin typeface="Cambria Math" panose="02040503050406030204" pitchFamily="18" charset="0"/>
                        </a:rPr>
                        <m:t>  →  </m:t>
                      </m:r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0" lang="en-US" altLang="ko-KR" sz="1800" b="0" i="0" smtClean="0">
                          <a:latin typeface="Cambria Math" panose="02040503050406030204" pitchFamily="18" charset="0"/>
                        </a:rPr>
                        <m:t> ≈ 3860.6 </m:t>
                      </m:r>
                      <m:r>
                        <a:rPr kumimoji="0" lang="en-US" altLang="ko-KR" sz="1800" b="0" i="0" smtClean="0">
                          <a:latin typeface="Cambria Math" panose="02040503050406030204" pitchFamily="18" charset="0"/>
                        </a:rPr>
                        <m:t>𝛺</m:t>
                      </m:r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204" name="TextBox 205"/>
              <p:cNvSpPr txBox="1"/>
              <p:nvPr/>
            </p:nvSpPr>
            <p:spPr>
              <a:xfrm>
                <a:off x="988200" y="2840000"/>
                <a:ext cx="5800000" cy="62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60 = 800 e^(−5/(R × 0.0005))  →  R ≈ 3860.6 Ω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206" name="TextBox 207"/>
          <p:cNvSpPr txBox="1"/>
          <p:nvPr/>
        </p:nvSpPr>
        <p:spPr>
          <a:xfrm>
            <a:off x="838200" y="3600000"/>
            <a:ext cx="6100000" cy="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1" lang="en-US" altLang="ko-KR" sz="1600" b="1" dirty="0"/>
              <a:t>R = 3.8 kΩ</a:t>
            </a:r>
            <a:r>
              <a:rPr kumimoji="1" lang="ko-KR" altLang="en-US" sz="1600" dirty="0"/>
              <a:t> 또는 더 낮은 저항을 사용</a:t>
            </a:r>
          </a:p>
        </p:txBody>
      </p:sp>
      <p:sp>
        <p:nvSpPr>
          <p:cNvPr id="208" name="TextBox 209"/>
          <p:cNvSpPr txBox="1"/>
          <p:nvPr/>
        </p:nvSpPr>
        <p:spPr>
          <a:xfrm>
            <a:off x="838200" y="4130000"/>
            <a:ext cx="6100000" cy="3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1" lang="ko-KR" altLang="en-US" sz="1400" dirty="0">
                <a:solidFill>
                  <a:srgbClr val="595959"/>
                </a:solidFill>
              </a:rPr>
              <a:t>최대 전류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11"/>
              <p:cNvSpPr txBox="1"/>
              <p:nvPr/>
            </p:nvSpPr>
            <p:spPr>
              <a:xfrm>
                <a:off x="838200" y="4420000"/>
                <a:ext cx="6100000" cy="6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0" lang="en-US" altLang="ko-KR" sz="1800" b="0" i="0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kumimoji="0" lang="en-US" altLang="ko-KR" sz="1800" b="0" i="0" smtClean="0">
                          <a:latin typeface="Cambria Math" panose="02040503050406030204" pitchFamily="18" charset="0"/>
                        </a:rPr>
                        <m:t> ≈ 0.207 </m:t>
                      </m:r>
                      <m:r>
                        <a:rPr kumimoji="0" lang="en-US" altLang="ko-KR" sz="1800" b="0" i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212" name="TextBox 213"/>
              <p:cNvSpPr txBox="1"/>
              <p:nvPr/>
            </p:nvSpPr>
            <p:spPr>
              <a:xfrm>
                <a:off x="838200" y="4420000"/>
                <a:ext cx="6100000" cy="6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I_max ≈ 0.207 A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214" name="TextBox 215"/>
          <p:cNvSpPr txBox="1"/>
          <p:nvPr/>
        </p:nvSpPr>
        <p:spPr>
          <a:xfrm>
            <a:off x="838200" y="4880000"/>
            <a:ext cx="6100000" cy="3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1" lang="ko-KR" altLang="en-US" sz="1400" dirty="0">
                <a:solidFill>
                  <a:srgbClr val="595959"/>
                </a:solidFill>
              </a:rPr>
              <a:t>5초 동안 발생하는 총 열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7"/>
              <p:cNvSpPr txBox="1"/>
              <p:nvPr/>
            </p:nvSpPr>
            <p:spPr>
              <a:xfrm>
                <a:off x="838200" y="5150000"/>
                <a:ext cx="6100000" cy="8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grow m:val="on"/>
                          <m:ctrlPr>
                            <a:rPr kumimoji="0" lang="en-US" altLang="ko-KR" sz="1350" b="0" i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en-US" altLang="ko-KR" sz="1350" b="0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0" lang="en-US" altLang="ko-KR" sz="135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ko-KR" sz="135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en-US" altLang="ko-KR" sz="13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altLang="ko-KR" sz="135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altLang="ko-KR" sz="1350" b="0" i="0" smtClean="0">
                                          <a:latin typeface="Cambria Math" panose="02040503050406030204" pitchFamily="18" charset="0"/>
                                        </a:rPr>
                                        <m:t>800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ko-KR" sz="135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ko-KR" sz="135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kumimoji="0" lang="en-US" altLang="ko-KR" sz="1350" b="0" i="0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1" lang="en-US" altLang="ko-KR" sz="135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1" lang="en-US" altLang="ko-KR" sz="135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kumimoji="0" lang="en-US" altLang="ko-KR" sz="135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3860.6 × 0.0005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kumimoji="0" lang="en-US" altLang="ko-KR" sz="135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0" lang="en-US" altLang="ko-KR" sz="1350" b="0" i="0" smtClean="0">
                                  <a:latin typeface="Cambria Math" panose="02040503050406030204" pitchFamily="18" charset="0"/>
                                </a:rPr>
                                <m:t>3860.6</m:t>
                              </m:r>
                            </m:den>
                          </m:f>
                          <m:r>
                            <a:rPr kumimoji="1" lang="en-US" altLang="ko-KR" sz="135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kumimoji="0" lang="en-US" altLang="ko-KR" sz="1350" b="0" i="0" smtClean="0">
                          <a:latin typeface="Cambria Math" panose="02040503050406030204" pitchFamily="18" charset="0"/>
                        </a:rPr>
                        <m:t> ≈ 159.1 </m:t>
                      </m:r>
                      <m:r>
                        <a:rPr kumimoji="0" lang="en-US" altLang="ko-KR" sz="1350" b="0" i="0" smtClean="0">
                          <a:latin typeface="Cambria Math" panose="02040503050406030204" pitchFamily="18" charset="0"/>
                        </a:rPr>
                        <m:t>𝐽</m:t>
                      </m:r>
                    </m:oMath>
                  </m:oMathPara>
                </a14:m>
                <a:endParaRPr kumimoji="1" lang="en-US" altLang="ko-KR" dirty="0"/>
              </a:p>
            </p:txBody>
          </p:sp>
        </mc:Choice>
        <mc:Fallback xmlns="">
          <p:sp>
            <p:nvSpPr>
              <p:cNvPr id="218" name="TextBox 219"/>
              <p:cNvSpPr txBox="1"/>
              <p:nvPr/>
            </p:nvSpPr>
            <p:spPr>
              <a:xfrm>
                <a:off x="838200" y="5150000"/>
                <a:ext cx="6100000" cy="800000"/>
              </a:xfrm>
              <a:prstGeom prst="rect">
                <a:avLst/>
              </a:prstGeom>
              <a:noFill/>
            </p:spPr>
            <p:txBody>
              <a:bodyPr wrap="square" rtlCol="0"/>
              <a:lstStyle/>
              <a:p>
                <a:pPr marL="0" indent="0" algn="ctr">
                  <a:buNone/>
                </a:pPr>
                <a:r>
                  <a:rPr kumimoji="1" lang="en-US" altLang="ko-KR" sz="2000" dirty="0">
                    <a:latin typeface="Cambria Math"/>
                  </a:rPr>
                  <a:t>∫₀⁵ (800 e^(−t/(3860.6 × 0.0005)))² / 3860.6 dt ≈ 159.1 J</a:t>
                </a:r>
                <a:endParaRPr kumimoji="1" lang="ko-KR" altLang="en-US" dirty="0"/>
              </a:p>
            </p:txBody>
          </p:sp>
        </mc:Fallback>
      </mc:AlternateContent>
      <p:pic>
        <p:nvPicPr>
          <p:cNvPr id="220" name="그림 221" descr="RC 방전 곡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552" y="1900000"/>
            <a:ext cx="4173248" cy="3600000"/>
          </a:xfrm>
          <a:prstGeom prst="rect">
            <a:avLst/>
          </a:prstGeom>
        </p:spPr>
      </p:pic>
      <p:sp>
        <p:nvSpPr>
          <p:cNvPr id="222" name="TextBox 223"/>
          <p:cNvSpPr txBox="1"/>
          <p:nvPr/>
        </p:nvSpPr>
        <p:spPr>
          <a:xfrm>
            <a:off x="7180552" y="5620000"/>
            <a:ext cx="417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ko-KR" altLang="en-US" sz="1400" dirty="0"/>
              <a:t>커패시터의 방전 곡선 (5 s, 60 V)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ko-KR" altLang="en-US" dirty="0"/>
              <a:t>Discharge 관련 규정</a:t>
            </a:r>
          </a:p>
        </p:txBody>
      </p:sp>
      <p:sp>
        <p:nvSpPr>
          <p:cNvPr id="225" name="내용 개체 틀 2"/>
          <p:cNvSpPr>
            <a:spLocks noGrp="1"/>
          </p:cNvSpPr>
          <p:nvPr>
            <p:ph idx="1"/>
          </p:nvPr>
        </p:nvSpPr>
        <p:spPr>
          <a:xfrm>
            <a:off x="838200" y="1950000"/>
            <a:ext cx="10515600" cy="4351338"/>
          </a:xfrm>
        </p:spPr>
        <p:txBody>
          <a:bodyPr/>
          <a:lstStyle/>
          <a:p>
            <a:r>
              <a:rPr kumimoji="1" lang="ko-KR" altLang="en-US" sz="2000" dirty="0"/>
              <a:t>차단 회로가 개방되거나 차량에서 LV 전원이 차단되었을 때 </a:t>
            </a:r>
            <a:r>
              <a:rPr kumimoji="1" lang="ko-KR" altLang="en-US" sz="2000" u="sng" dirty="0">
                <a:uFill>
                  <a:solidFill>
                    <a:srgbClr val="FF0000"/>
                  </a:solidFill>
                </a:uFill>
              </a:rPr>
              <a:t>항상 활성화</a:t>
            </a:r>
            <a:r>
              <a:rPr kumimoji="1" lang="ko-KR" altLang="en-US" sz="2000" dirty="0"/>
              <a:t>되도록 설계</a:t>
            </a:r>
          </a:p>
          <a:p>
            <a:endParaRPr kumimoji="1" lang="ko-KR" altLang="en-US" sz="800" dirty="0"/>
          </a:p>
          <a:p>
            <a:r>
              <a:rPr kumimoji="1" lang="ko-KR" altLang="en-US" sz="2000" dirty="0"/>
              <a:t>고전압 분리기(HVD)가 분리되었을 때에도 방전될 수 있도록 설계</a:t>
            </a:r>
          </a:p>
          <a:p>
            <a:endParaRPr kumimoji="1" lang="ko-KR" altLang="en-US" sz="800" dirty="0"/>
          </a:p>
          <a:p>
            <a:r>
              <a:rPr kumimoji="1" lang="ko-KR" altLang="en-US" sz="2000" dirty="0">
                <a:highlight>
                  <a:srgbClr val="FFFF00"/>
                </a:highlight>
              </a:rPr>
              <a:t>최소 15초</a:t>
            </a:r>
            <a:r>
              <a:rPr kumimoji="1" lang="ko-KR" altLang="en-US" sz="2000" dirty="0"/>
              <a:t> 동안 최대 방전 전류를 처리하도록 설계</a:t>
            </a:r>
          </a:p>
          <a:p>
            <a:endParaRPr kumimoji="1" lang="ko-KR" altLang="en-US" sz="800" dirty="0"/>
          </a:p>
          <a:p>
            <a:pPr lvl="1"/>
            <a:r>
              <a:rPr kumimoji="1" lang="ko-KR" altLang="en-US" sz="1800" dirty="0"/>
              <a:t>LV 시스템 전원이 차단되면 HV 시스템도 즉시 비활성화되어야 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en-US" altLang="ko-KR" dirty="0"/>
              <a:t>TSMP (Tractive System Measuring Point)</a:t>
            </a:r>
            <a:endParaRPr kumimoji="1" lang="ko-KR" altLang="en-US" dirty="0"/>
          </a:p>
        </p:txBody>
      </p:sp>
      <p:sp>
        <p:nvSpPr>
          <p:cNvPr id="227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5900000" cy="4351338"/>
          </a:xfrm>
        </p:spPr>
        <p:txBody>
          <a:bodyPr/>
          <a:lstStyle/>
          <a:p>
            <a:r>
              <a:rPr kumimoji="1" lang="ko-KR" altLang="en-US" sz="1800" dirty="0"/>
              <a:t>외부에서 </a:t>
            </a:r>
            <a:r>
              <a:rPr kumimoji="1" lang="ko-KR" altLang="en-US" sz="1800" u="sng" dirty="0">
                <a:uFill>
                  <a:solidFill>
                    <a:srgbClr val="FF0000"/>
                  </a:solidFill>
                </a:uFill>
              </a:rPr>
              <a:t>하우징을 열지 않고</a:t>
            </a:r>
            <a:r>
              <a:rPr kumimoji="1" lang="ko-KR" altLang="en-US" sz="1800" dirty="0"/>
              <a:t> LV 및 HV 전압을 측정할 수 있도록 설치된 단자</a:t>
            </a:r>
          </a:p>
          <a:p>
            <a:endParaRPr kumimoji="1" lang="ko-KR" altLang="en-US" sz="800" dirty="0"/>
          </a:p>
          <a:p>
            <a:r>
              <a:rPr kumimoji="1" lang="ko-KR" altLang="en-US" sz="1800" dirty="0"/>
              <a:t>검차 시 </a:t>
            </a:r>
            <a:r>
              <a:rPr kumimoji="1" lang="ko-KR" altLang="en-US" sz="1800" dirty="0">
                <a:highlight>
                  <a:srgbClr val="FFFF00"/>
                </a:highlight>
              </a:rPr>
              <a:t>방전 성능, IMD</a:t>
            </a:r>
            <a:r>
              <a:rPr kumimoji="1" lang="ko-KR" altLang="en-US" sz="1800" dirty="0"/>
              <a:t> 등을 테스트하는 데 사용</a:t>
            </a:r>
          </a:p>
          <a:p>
            <a:endParaRPr kumimoji="1" lang="ko-KR" altLang="en-US" sz="800" dirty="0"/>
          </a:p>
          <a:p>
            <a:r>
              <a:rPr kumimoji="1" lang="ko-KR" altLang="en-US" sz="1800" dirty="0"/>
              <a:t>흑색 · 적색의 </a:t>
            </a:r>
            <a:r>
              <a:rPr kumimoji="1" lang="en-US" altLang="ko-KR" sz="1800" dirty="0"/>
              <a:t>4 mm Banana Jack</a:t>
            </a:r>
            <a:r>
              <a:rPr kumimoji="1" lang="ko-KR" altLang="en-US" sz="1800" dirty="0"/>
              <a:t> 을 사용</a:t>
            </a:r>
          </a:p>
          <a:p>
            <a:endParaRPr kumimoji="1" lang="ko-KR" altLang="en-US" sz="800" dirty="0"/>
          </a:p>
          <a:p>
            <a:r>
              <a:rPr kumimoji="1" lang="ko-KR" altLang="en-US" sz="1800" dirty="0"/>
              <a:t>주황 배경에 </a:t>
            </a:r>
            <a:r>
              <a:rPr kumimoji="1" lang="en-US" altLang="ko-KR" sz="1800" dirty="0"/>
              <a:t>HV+ / HV−</a:t>
            </a:r>
            <a:r>
              <a:rPr kumimoji="1" lang="ko-KR" altLang="en-US" sz="1800" dirty="0"/>
              <a:t> 등으로 표시되어야 함</a:t>
            </a:r>
          </a:p>
        </p:txBody>
      </p:sp>
      <p:pic>
        <p:nvPicPr>
          <p:cNvPr id="228" name="그림 229" descr="4 mm Banana J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800" y="2700000"/>
            <a:ext cx="4400000" cy="1458947"/>
          </a:xfrm>
          <a:prstGeom prst="rect">
            <a:avLst/>
          </a:prstGeom>
        </p:spPr>
      </p:pic>
      <p:sp>
        <p:nvSpPr>
          <p:cNvPr id="230" name="TextBox 231"/>
          <p:cNvSpPr txBox="1"/>
          <p:nvPr/>
        </p:nvSpPr>
        <p:spPr>
          <a:xfrm>
            <a:off x="6953800" y="4308947"/>
            <a:ext cx="4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kumimoji="1" lang="en-US" altLang="ko-KR" sz="1600" dirty="0"/>
              <a:t>4 mm Banana Jack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제목 1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/>
          <a:p>
            <a:pPr>
              <a:buNone/>
            </a:pPr>
            <a:r>
              <a:rPr kumimoji="1" lang="ko-KR" altLang="en-US" dirty="0"/>
              <a:t>TSMP 관련 규정 – 전류 제한 저항</a:t>
            </a:r>
          </a:p>
        </p:txBody>
      </p:sp>
      <p:graphicFrame>
        <p:nvGraphicFramePr>
          <p:cNvPr id="233" name="표 234"/>
          <p:cNvGraphicFramePr>
            <a:graphicFrameLocks noGrp="1"/>
          </p:cNvGraphicFramePr>
          <p:nvPr/>
        </p:nvGraphicFramePr>
        <p:xfrm>
          <a:off x="2596000" y="1950000"/>
          <a:ext cx="7000000" cy="1890000"/>
        </p:xfrm>
        <a:graphic>
          <a:graphicData uri="http://schemas.openxmlformats.org/drawingml/2006/table">
            <a:tbl>
              <a:tblPr firstRow="1" bandRow="1"/>
              <a:tblGrid>
                <a:gridCol w="4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1" lang="ko-KR" altLang="en-US" sz="1600" b="1" dirty="0">
                          <a:solidFill>
                            <a:srgbClr val="FFFFFF"/>
                          </a:solidFill>
                        </a:rPr>
                        <a:t>최대 전압 (Vmax)</a:t>
                      </a:r>
                      <a:endParaRPr kumimoji="1" lang="ko-KR" altLang="en-US" dirty="0"/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1" lang="ko-KR" altLang="en-US" sz="1600" b="1" dirty="0">
                          <a:solidFill>
                            <a:srgbClr val="FFFFFF"/>
                          </a:solidFill>
                        </a:rPr>
                        <a:t>전류 제한 저항</a:t>
                      </a:r>
                      <a:endParaRPr kumimoji="1" lang="ko-KR" altLang="en-US" dirty="0"/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1" lang="en-US" altLang="ko-KR" sz="1600" dirty="0"/>
                        <a:t>Vmax ≤ 200 V DC</a:t>
                      </a:r>
                      <a:endParaRPr kumimoji="1" lang="ko-KR" altLang="en-US" dirty="0"/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1" lang="en-US" altLang="ko-KR" sz="1600" b="1" dirty="0"/>
                        <a:t>5 kΩ</a:t>
                      </a:r>
                      <a:endParaRPr kumimoji="1" lang="ko-KR" altLang="en-US" dirty="0"/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1" lang="en-US" altLang="ko-KR" sz="1600" dirty="0"/>
                        <a:t>200 V DC &lt; Vmax ≤ 400 V DC</a:t>
                      </a:r>
                      <a:endParaRPr kumimoji="1" lang="ko-KR" altLang="en-US" dirty="0"/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2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1" lang="en-US" altLang="ko-KR" sz="1600" b="1" dirty="0"/>
                        <a:t>10 kΩ</a:t>
                      </a:r>
                      <a:endParaRPr kumimoji="1" lang="ko-KR" altLang="en-US" dirty="0"/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2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1" lang="en-US" altLang="ko-KR" sz="1600" dirty="0"/>
                        <a:t>400 V DC &lt; Vmax ≤ 600 V DC</a:t>
                      </a:r>
                      <a:endParaRPr kumimoji="1" lang="ko-KR" altLang="en-US" dirty="0"/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kumimoji="1" lang="en-US" altLang="ko-KR" sz="1600" b="1" dirty="0"/>
                        <a:t>15 kΩ</a:t>
                      </a:r>
                      <a:endParaRPr kumimoji="1" lang="ko-KR" altLang="en-US" dirty="0"/>
                    </a:p>
                  </a:txBody>
                  <a:tcPr anchor="ctr">
                    <a:lnL w="12700">
                      <a:solidFill>
                        <a:srgbClr val="B8CCD6"/>
                      </a:solidFill>
                    </a:lnL>
                    <a:lnR w="12700">
                      <a:solidFill>
                        <a:srgbClr val="B8CCD6"/>
                      </a:solidFill>
                    </a:lnR>
                    <a:lnT w="12700">
                      <a:solidFill>
                        <a:srgbClr val="B8CCD6"/>
                      </a:solidFill>
                    </a:lnT>
                    <a:lnB w="12700">
                      <a:solidFill>
                        <a:srgbClr val="B8CC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5" name="내용 개체 틀 2"/>
          <p:cNvSpPr>
            <a:spLocks noGrp="1"/>
          </p:cNvSpPr>
          <p:nvPr>
            <p:ph idx="1"/>
          </p:nvPr>
        </p:nvSpPr>
        <p:spPr>
          <a:xfrm>
            <a:off x="838200" y="4350000"/>
            <a:ext cx="10515600" cy="1700000"/>
          </a:xfrm>
        </p:spPr>
        <p:txBody>
          <a:bodyPr/>
          <a:lstStyle/>
          <a:p>
            <a:r>
              <a:rPr kumimoji="1" lang="ko-KR" altLang="en-US" sz="2000" dirty="0"/>
              <a:t>HV 단자 옆에 </a:t>
            </a:r>
            <a:r>
              <a:rPr kumimoji="1" lang="ko-KR" altLang="en-US" sz="2000" u="sng" dirty="0">
                <a:uFill>
                  <a:solidFill>
                    <a:srgbClr val="FF0000"/>
                  </a:solidFill>
                </a:uFill>
              </a:rPr>
              <a:t>GLVS(접지) 단자</a:t>
            </a:r>
            <a:r>
              <a:rPr kumimoji="1" lang="ko-KR" altLang="en-US" sz="2000" dirty="0"/>
              <a:t>가 설치되어야 함</a:t>
            </a:r>
          </a:p>
          <a:p>
            <a:endParaRPr kumimoji="1" lang="ko-KR" altLang="en-US" sz="800" dirty="0"/>
          </a:p>
          <a:p>
            <a:r>
              <a:rPr kumimoji="1" lang="ko-KR" altLang="en-US" sz="2000" dirty="0"/>
              <a:t>최소 </a:t>
            </a:r>
            <a:r>
              <a:rPr kumimoji="1" lang="ko-KR" altLang="en-US" sz="2000" dirty="0">
                <a:highlight>
                  <a:srgbClr val="FFFF00"/>
                </a:highlight>
              </a:rPr>
              <a:t>3포인트 지지</a:t>
            </a:r>
            <a:r>
              <a:rPr kumimoji="1" lang="ko-KR" altLang="en-US" sz="2000" dirty="0"/>
              <a:t>가 필요함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711</Words>
  <Application>Microsoft Macintosh PowerPoint</Application>
  <PresentationFormat>와이드스크린</PresentationFormat>
  <Paragraphs>132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Cambria Math</vt:lpstr>
      <vt:lpstr>Office 테마</vt:lpstr>
      <vt:lpstr>9.17 스터디</vt:lpstr>
      <vt:lpstr>AIR (Accumulator Isolation Relay)</vt:lpstr>
      <vt:lpstr>AIR 관련 규정 – SDC / 인터락</vt:lpstr>
      <vt:lpstr>SDC (Shutdown Circuit) 회로</vt:lpstr>
      <vt:lpstr>Pre-charge – 돌입 전류</vt:lpstr>
      <vt:lpstr>Pre-charge – 시정수와 충전 곡선</vt:lpstr>
      <vt:lpstr>Pre-charge – 계산 예시</vt:lpstr>
      <vt:lpstr>Pre-charge 관련 규정</vt:lpstr>
      <vt:lpstr>Discharge Circuit</vt:lpstr>
      <vt:lpstr>Discharge – Passive vs Active</vt:lpstr>
      <vt:lpstr>Discharge – 방전 곡선</vt:lpstr>
      <vt:lpstr>Discharge – 계산 예시</vt:lpstr>
      <vt:lpstr>Discharge 관련 규정</vt:lpstr>
      <vt:lpstr>TSMP (Tractive System Measuring Point)</vt:lpstr>
      <vt:lpstr>TSMP 관련 규정 – 전류 제한 저항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류보선</dc:creator>
  <cp:lastModifiedBy>류보선</cp:lastModifiedBy>
  <cp:revision>2</cp:revision>
  <dcterms:created xsi:type="dcterms:W3CDTF">2026-09-15T08:29:04Z</dcterms:created>
  <dcterms:modified xsi:type="dcterms:W3CDTF">2026-09-16T16:59:29Z</dcterms:modified>
</cp:coreProperties>
</file>